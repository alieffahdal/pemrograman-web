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7952" y="566928"/>
            <a:ext cx="768096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664208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731520" y="193852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Pemrograman Website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2542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E4F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 6</a:t>
            </a:r>
            <a:endParaRPr lang="en-US" sz="17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E4F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Pemodelan Data dan Konsep Basis Data Relasional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31520" y="395020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Departemen Teknik Informatika, Fakultas Teknik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Hasanuddin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MATERI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Pembahasan Modul 6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9224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Pendahuluan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9224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pembelajaran dan posisi modul di antara PHP dan SQL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63470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09774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A5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309774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Teoritis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09774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relasional, properti ACID, kunci, dan normalisasi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24021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0325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970325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Standardisasi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970325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Konvensi penamaan tabel, kolom, dan kunci relasional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4571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30875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A5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630875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30875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Normalisasi skema KRS portal akademik dari UNF ke 3NF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45122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91426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291426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291426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konseptual dan tugas perancangan ERD E-Library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4370832"/>
            <a:ext cx="8138160" cy="329184"/>
          </a:xfrm>
          <a:prstGeom prst="roundRect">
            <a:avLst>
              <a:gd name="adj" fmla="val 13889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" y="4370832"/>
            <a:ext cx="7845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ini merancang struktur data terlebih dahulu, baru kemudian data dimanipulasi dengan SQL pada Modul 7.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Pendahuluan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pembelajaran Modul 6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Relevansi terhadap alur mata kuliah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CAPAIAN PEMBELAJARAN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Kemampuan Akhir yang Diharapkan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Menganalisis arsitektur RDBMS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Memahami penyajian data sebagai tabel dua dimensi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Mengenali peran storage engine dalam pengelolaan data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54296" y="120700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Menilai penerapan transaksi ACID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00600" y="162763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Mengevaluasi jaminan konsistensi data saat terjadi kegagalan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Menghubungkan tiap properti dengan kasus nyata aplikasi web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75386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285445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Merancang ERD dan kunci relasional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9224" y="317449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Memodelkan kebutuhan sistem nyata ke dalam entitas dan relasi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Menegakkan integritas referensial antara tabel induk dan anak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54296" y="275386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85445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Melakukan normalisasi hingga 3NF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00600" y="317449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Menghilangkan redundansi dan anomali sisip, hapus, serta ubah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Menerapkan tahapan konversi bertingkat dari bentuk tidak normal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RELEVANSI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Mengapa Pemodelan Data Didahulukan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46286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Posisi dalam alur mata kuliah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4628693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sisi server pada Modul 5 memerlukan penyimpanan yang persisten agar data tidak hilang saat server dimatikan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ini meletakkan dasar teoritis pemodelan data sebelum sintaksis SQL diperkenalkan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Skema yang bersih dan ternormalisasi adalah prasyarat mutlak sebelum manipulasi data nyata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314493" y="1207008"/>
            <a:ext cx="3326587" cy="3410712"/>
          </a:xfrm>
          <a:prstGeom prst="roundRect">
            <a:avLst>
              <a:gd name="adj" fmla="val 164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60797" y="1307592"/>
            <a:ext cx="30339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Dampak ke Modul Lain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60797" y="1627632"/>
            <a:ext cx="3033979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7: manipulasi data SQL dan phpMyAdmin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13: perancangan endpoint RESTful API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14: pemetaan entitas pada layer back-end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Konsep Teoritis dan Arsitektur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relasional dan arsitektur RDBMS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 transaksional ACID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Kunci relasional dan integritas referensial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 data dan tahapan normalisasi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MODEL RELASIONAL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Konsep Dasar RDBMS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43845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Landasan teoritis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4384548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Dikonseptualisasikan oleh Edgar F. Codd pada tahun 1970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disajikan sebagai kumpulan tabel dua dimensi yang disebut relations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RDBMS adalah perangkat lunak pengelola basis data yang menyediakan storage engine terstruktur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70348" y="1207008"/>
            <a:ext cx="3570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Istilah teknis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70348" y="1499616"/>
            <a:ext cx="1499707" cy="589788"/>
          </a:xfrm>
          <a:prstGeom prst="roundRect">
            <a:avLst>
              <a:gd name="adj" fmla="val 7752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5212" y="1499616"/>
            <a:ext cx="1389979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698071" y="1499616"/>
            <a:ext cx="1943009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dua dimensi tempat data disimpan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5070348" y="2180844"/>
            <a:ext cx="1499707" cy="589788"/>
          </a:xfrm>
          <a:prstGeom prst="roundRect">
            <a:avLst>
              <a:gd name="adj" fmla="val 7752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5212" y="2180844"/>
            <a:ext cx="1389979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/ Record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698071" y="2180844"/>
            <a:ext cx="1943009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data yang mewakili satu entitas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5070348" y="2862072"/>
            <a:ext cx="1499707" cy="589788"/>
          </a:xfrm>
          <a:prstGeom prst="roundRect">
            <a:avLst>
              <a:gd name="adj" fmla="val 7752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5212" y="2862072"/>
            <a:ext cx="1389979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/ Field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698071" y="2862072"/>
            <a:ext cx="1943009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yang menyimpan satu jenis nilai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5070348" y="3543300"/>
            <a:ext cx="1499707" cy="589788"/>
          </a:xfrm>
          <a:prstGeom prst="roundRect">
            <a:avLst>
              <a:gd name="adj" fmla="val 7752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5212" y="3543300"/>
            <a:ext cx="1389979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MySQL, PostgreSQL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698071" y="3543300"/>
            <a:ext cx="1943009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perangkat lunak RDBMS produksi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502920" y="4370832"/>
            <a:ext cx="8138160" cy="329184"/>
          </a:xfrm>
          <a:prstGeom prst="roundRect">
            <a:avLst>
              <a:gd name="adj" fmla="val 13889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4370832"/>
            <a:ext cx="7845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relasional memisahkan struktur logis data dari cara data disimpan secara fisik di media penyimpanan.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PROPERTI TRANSAKSIONAL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 Kriteria Dasar ACID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Transaksi adalah sekumpulan operasi baca dan tulis yang diperlakukan sebagai satu kesatuan unit kerja logis.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52704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62763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9224" y="194767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operasi berhasil, atau tidak sama sekali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Kegagalan satu operasi membatalkan seluruh transaksi melalui rollback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54296" y="152704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62763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0600" y="194767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Transaksi hanya membawa basis data dari satu keadaan valid ke keadaan valid lainnya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aturan kunci, tipe data, dan referensi tetap terpenuhi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307390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" y="31744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" y="349453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Transaksi konkuren tidak saling mengganggu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transaksi berjalan belum terlihat oleh transaksi lain sampai berkomitmen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54296" y="307390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31744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349453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commit, perubahan bersifat permanen di media penyimpanan fisik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bertahan meskipun terjadi kegagalan daya atau crash server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KUNCI RELASIONAL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Pengenal Unik Antar Tabel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2602992" cy="1780794"/>
          </a:xfrm>
          <a:prstGeom prst="roundRect">
            <a:avLst>
              <a:gd name="adj" fmla="val 3081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2310384" cy="125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Mengidentifikasi secara unik setiap baris data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boleh bernilai NULL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boleh duplikat antar baris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70504" y="1207008"/>
            <a:ext cx="2602992" cy="1780794"/>
          </a:xfrm>
          <a:prstGeom prst="roundRect">
            <a:avLst>
              <a:gd name="adj" fmla="val 3081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6808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16808" y="1627632"/>
            <a:ext cx="2310384" cy="125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Merujuk ke Primary Key di tabel lain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Menegakkan hubungan antar tabel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Menjadi dasar operasi JOIN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8088" y="1207008"/>
            <a:ext cx="2602992" cy="1780794"/>
          </a:xfrm>
          <a:prstGeom prst="roundRect">
            <a:avLst>
              <a:gd name="adj" fmla="val 3081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4392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Key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84392" y="1627632"/>
            <a:ext cx="2310384" cy="125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Kombinasi beberapa kolom sebagai kunci utama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Digunakan pada tabel penghubung relasi many-to-many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pasangan nim dan kode_mk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4370832"/>
            <a:ext cx="8138160" cy="329184"/>
          </a:xfrm>
          <a:prstGeom prst="roundRect">
            <a:avLst>
              <a:gd name="adj" fmla="val 13889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4370832"/>
            <a:ext cx="7845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Penamaan kolom Foreign Key sebaiknya identik dengan Primary Key rujukannya agar query JOIN mudah dibaca.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INTEGRITAS REFERENSIAL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Perilaku Tabel Anak saat Induk Berubah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Integritas referensial menjamin konsistensi hubungan antara Primary Key dan Foreign Key ketika data induk dimodifikasi.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81381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566160"/>
                <a:gridCol w="3017520"/>
              </a:tblGrid>
              <a:tr h="3033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Aturan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Perilaku pada tabel anak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Kapan digunakan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3033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CASCADE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Baris terkait ikut diperbarui atau dihapus secara otomatis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anak tidak bermakna tanpa induknya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33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Operasi hapus atau ubah di tabel induk ditolak selama masih ada data terkait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historis wajib dipertahankan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3033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Sama seperti RESTRICT, pemeriksaan dilakukan di akhir pernyataan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Perilaku standar bawaan banyak RDBMS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33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NULL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Nilai kolom Foreign Key di tabel anak diisi NULL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Relasi bersifat opsional dan boleh terputus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370832"/>
            <a:ext cx="8138160" cy="329184"/>
          </a:xfrm>
          <a:prstGeom prst="roundRect">
            <a:avLst>
              <a:gd name="adj" fmla="val 13889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224" y="4370832"/>
            <a:ext cx="7845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Pemilihan aturan yang keliru dapat menghapus data operasional secara berantai tanpa dapat dipulihkan.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ANOMALI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Masalah yang Dicegah Normalisasi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2602992" cy="1560957"/>
          </a:xfrm>
          <a:prstGeom prst="roundRect">
            <a:avLst>
              <a:gd name="adj" fmla="val 3515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 Sisipan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2310384" cy="1030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data baru tidak dapat dimasukkan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Terjadi karena ketergantungan pada data lain yang belum tersedia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70504" y="1207008"/>
            <a:ext cx="2602992" cy="1560957"/>
          </a:xfrm>
          <a:prstGeom prst="roundRect">
            <a:avLst>
              <a:gd name="adj" fmla="val 3515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6808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 Hapus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16808" y="1627632"/>
            <a:ext cx="2310384" cy="1030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penting hilang tanpa disengaja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Terjadi akibat penghapusan baris data lain yang menumpang pada tabel yang sama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8088" y="1207008"/>
            <a:ext cx="2602992" cy="1560957"/>
          </a:xfrm>
          <a:prstGeom prst="roundRect">
            <a:avLst>
              <a:gd name="adj" fmla="val 3515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4392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 Pembaruan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84392" y="1627632"/>
            <a:ext cx="2310384" cy="1030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menjadi tidak konsisten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Terjadi karena pembaruan data duplikat tidak dilakukan pada semua baris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TAHAPAN NORMALISASI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Dari Bentuk Tidak Normal Menuju 3NF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8138160" cy="932688"/>
          </a:xfrm>
          <a:prstGeom prst="roundRect">
            <a:avLst>
              <a:gd name="adj" fmla="val 5882"/>
            </a:avLst>
          </a:prstGeom>
          <a:solidFill>
            <a:srgbClr val="E8EFF6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" y="1536192"/>
            <a:ext cx="274320" cy="274320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1536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14984" y="1207008"/>
            <a:ext cx="2194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Normal Form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64408" y="1207008"/>
            <a:ext cx="5212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kolom hanya menyimpan nilai tunggal yang atomik dan tidak terdapat kelompok data berulang di dalam satu sel.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249424"/>
            <a:ext cx="8138160" cy="932688"/>
          </a:xfrm>
          <a:prstGeom prst="roundRect">
            <a:avLst>
              <a:gd name="adj" fmla="val 5882"/>
            </a:avLst>
          </a:prstGeom>
          <a:solidFill>
            <a:srgbClr val="F3F7F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" y="2578608"/>
            <a:ext cx="274320" cy="274320"/>
          </a:xfrm>
          <a:prstGeom prst="ellipse">
            <a:avLst/>
          </a:prstGeom>
          <a:solidFill>
            <a:srgbClr val="D98A1F"/>
          </a:solidFill>
          <a:ln w="6350">
            <a:solidFill>
              <a:srgbClr val="D98A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14984" y="2249424"/>
            <a:ext cx="2194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Normal Form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64408" y="2249424"/>
            <a:ext cx="5212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Memenuhi 1NF, dan seluruh atribut bukan kunci bergantung penuh pada kunci utama. Ketergantungan parsial pada sebagian kunci komposit dipisah ke tabel baru.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291840"/>
            <a:ext cx="8138160" cy="932688"/>
          </a:xfrm>
          <a:prstGeom prst="roundRect">
            <a:avLst>
              <a:gd name="adj" fmla="val 5882"/>
            </a:avLst>
          </a:prstGeom>
          <a:solidFill>
            <a:srgbClr val="E8EFF6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" y="3621024"/>
            <a:ext cx="274320" cy="274320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" y="3621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14984" y="3291840"/>
            <a:ext cx="2194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Normal Form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64408" y="3291840"/>
            <a:ext cx="5212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Memenuhi 2NF, dan tidak ada atribut bukan kunci yang bergantung pada atribut bukan kunci lainnya, sehingga ketergantungan transitif dihilangkan.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4370832"/>
            <a:ext cx="8138160" cy="329184"/>
          </a:xfrm>
          <a:prstGeom prst="roundRect">
            <a:avLst>
              <a:gd name="adj" fmla="val 13889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4370832"/>
            <a:ext cx="7845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tahap normalisasi memecah tabel besar menjadi tabel yang lebih kecil dan saling terhubung melalui kunci.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Standardisasi dan Best Practices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Konvensi penamaan skema basis data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Konsistensi penamaan kunci relasional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KONVENSI PENAMAAN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Aturan Penamaan Skema Basis Data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2602992" cy="1780794"/>
          </a:xfrm>
          <a:prstGeom prst="roundRect">
            <a:avLst>
              <a:gd name="adj" fmla="val 3081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2310384" cy="125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huruf kecil seluruhnya dengan pemisah garis bawah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Tulis mahasiswa_detail, bukan MahasiswaDetail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70504" y="1207008"/>
            <a:ext cx="2602992" cy="1780794"/>
          </a:xfrm>
          <a:prstGeom prst="roundRect">
            <a:avLst>
              <a:gd name="adj" fmla="val 3081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6808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Pluralisasi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16808" y="1627632"/>
            <a:ext cx="2310384" cy="125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kata benda tunggal untuk nama tabel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tabel mewakili satu baris entitas tunggal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Tulis mahasiswa dan mata_kuliah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8088" y="1207008"/>
            <a:ext cx="2602992" cy="1780794"/>
          </a:xfrm>
          <a:prstGeom prst="roundRect">
            <a:avLst>
              <a:gd name="adj" fmla="val 3081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4392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Penamaan Kunci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84392" y="1627632"/>
            <a:ext cx="2310384" cy="125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 nama Primary Key secara konsisten, misalnya id atau nama_tabel_id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Samakan nama Foreign Key dengan Primary Key rujukan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4370832"/>
            <a:ext cx="8138160" cy="329184"/>
          </a:xfrm>
          <a:prstGeom prst="roundRect">
            <a:avLst>
              <a:gd name="adj" fmla="val 13889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4370832"/>
            <a:ext cx="7845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Konsistensi penamaan mengurangi kesalahan penulisan query JOIN pada proyek yang dikerjakan banyak orang.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Implementasi Praktis dan Studi Kasus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Perancangan skema database KRS portal akademik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Konversi bertahap dari UNF hingga 3NF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STUDI KASUS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Bentuk Tidak Normal (UNF)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awal mencatat data mahasiswa, kelas yang diambil, dan dosen pengampu dalam satu baris besar berisi kelompok berulang.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81381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097280"/>
                <a:gridCol w="1371600"/>
                <a:gridCol w="411480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Alamat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Kelas Diambil (Kode, Nama, Dosen, SKS)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D121241001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Makassar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{INF302, Pemweb, Prof. A, 3}, {INF301, ASD, Dr. B, 4}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D121241002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Akbar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Gowa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{INF302, Pemweb, Prof. A, 3}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370832"/>
            <a:ext cx="8138160" cy="329184"/>
          </a:xfrm>
          <a:prstGeom prst="roundRect">
            <a:avLst>
              <a:gd name="adj" fmla="val 13889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224" y="4370832"/>
            <a:ext cx="7845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terakhir memuat lebih dari satu nilai dalam satu sel, sehingga tabel belum memenuhi syarat paling dasar sekalipun.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KONVERSI 1NF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Menghilangkan Kelompok Berulang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sel dipastikan hanya berisi satu nilai atomik. Kunci utama tabel ini adalah kunci komposit gabungan NIM dan Kode_MK.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813816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143000"/>
                <a:gridCol w="1005840"/>
                <a:gridCol w="1097280"/>
                <a:gridCol w="1005840"/>
                <a:gridCol w="548640"/>
                <a:gridCol w="1920240"/>
              </a:tblGrid>
              <a:tr h="5921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NIM (PK-1)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Kode_MK (PK-2)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Nama_Mhs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Alamat_Mhs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Nama_MK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Nama_Dosen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5921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D121241001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INF302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Makassar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Pemweb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Prof. 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21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D121241001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INF301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Makassar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Dr. 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5921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D121241002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INF302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Akbar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Gowa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Pemweb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Prof. 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370832"/>
            <a:ext cx="8138160" cy="329184"/>
          </a:xfrm>
          <a:prstGeom prst="roundRect">
            <a:avLst>
              <a:gd name="adj" fmla="val 13889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224" y="4370832"/>
            <a:ext cx="7845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Masih terjadi redundansi: nama dan alamat Rian ditulis ulang setiap kali ia mengambil satu mata kuliah tambahan.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KONVERSI 2NF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Memisahkan Ketergantungan Parsial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 yang hanya bergantung pada sebagian kunci komposit dipindahkan ke tabel tersendiri.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527048"/>
            <a:ext cx="3977640" cy="2697480"/>
          </a:xfrm>
          <a:prstGeom prst="roundRect">
            <a:avLst>
              <a:gd name="adj" fmla="val 2034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627632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mahasiswa, kunci utama nim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9224" y="1947672"/>
            <a:ext cx="3685032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Kolom: nim, nama_mhs, alamat_mhs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mahasiswa hanya bergantung pada nim, bukan pada kode mata kuliah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Identitas mahasiswa kini tercatat satu kali saja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527048"/>
            <a:ext cx="3977640" cy="2697480"/>
          </a:xfrm>
          <a:prstGeom prst="roundRect">
            <a:avLst>
              <a:gd name="adj" fmla="val 2034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9744" y="1627632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mata_kuliah, kunci utama kode_mk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9744" y="1947672"/>
            <a:ext cx="3685032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Kolom: kode_mk, nama_mk, sks, nama_dosen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 mata kuliah hanya bergantung pada kode_mk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krs menyisakan nim, kode_mk, dan tanggal_ambil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4370832"/>
            <a:ext cx="8138160" cy="329184"/>
          </a:xfrm>
          <a:prstGeom prst="roundRect">
            <a:avLst>
              <a:gd name="adj" fmla="val 13889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" y="4370832"/>
            <a:ext cx="7845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tersisa: nama_dosen bergantung pada nama_mk, padahal nama_mk bukan kunci utama. Inilah ketergantungan transitif.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KONVERSI 3NF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Menghilangkan Ketergantungan Transitif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 bukan kunci yang bergantung pada atribut bukan kunci lain dipisahkan. Dosen diasumsikan memiliki kode unik nidn.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81381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737360"/>
                <a:gridCol w="1554480"/>
                <a:gridCol w="3383280"/>
              </a:tblGrid>
              <a:tr h="4783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Kunci Utama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Kunci Tamu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Kolom 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4783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nidn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nama_dosen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83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mahasiswa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nama_mhs, alamat_mhs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4783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mata_kuliah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kode_mk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nidn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nama_mk, sks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83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nim + kode_mk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nim, kode_mk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tanggal_ambil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370832"/>
            <a:ext cx="8138160" cy="329184"/>
          </a:xfrm>
          <a:prstGeom prst="roundRect">
            <a:avLst>
              <a:gd name="adj" fmla="val 13889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224" y="4370832"/>
            <a:ext cx="7845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Skema kini memenuhi 3NF: tidak ada redundansi yang tidak perlu dan aman dari anomali manipulasi data.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SKEMA AKHIR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Relasi Kunci Antar Tabel Ternormalisasi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41404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RELASI KUNCI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426464"/>
            <a:ext cx="4140403" cy="3191256"/>
          </a:xfrm>
          <a:prstGeom prst="roundRect">
            <a:avLst>
              <a:gd name="adj" fmla="val 1719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499616"/>
            <a:ext cx="3920947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dosen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nidn (PK) ......... nama_dosen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^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|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mata_kuliah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kode_mk (PK) ...... nama_mk, sks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nidn (FK) --------- dosen.nidn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^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|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krs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nim (PK, FK) ------ mahasiswa.nim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kode_mk (PK, FK) -- mata_kuliah.kode_mk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tanggal_ambil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|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mahasiswa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nim (PK) .......... nama_mhs, alamat_mhs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826203" y="1207008"/>
            <a:ext cx="38148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Pembacaan diagram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826203" y="1499616"/>
            <a:ext cx="3814877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krs berperan sebagai tabel penghubung relasi many-to-many antara mahasiswa dan mata kuliah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Kunci utama krs bersifat komposit sehingga satu mahasiswa tidak dapat mengambil mata kuliah yang sama dua kali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Perubahan nama dosen kini cukup dilakukan pada satu baris di tabel dosen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Foreign Key wajib merujuk nilai yang benar-benar ada di tabel induk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Evaluasi dan Tugas Mandiri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konseptual tingkat analisis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praktik pemecahan masalah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PERTANYAAN KONSEPTUAL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Tingkat Tinggi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2602992" cy="1918335"/>
          </a:xfrm>
          <a:prstGeom prst="roundRect">
            <a:avLst>
              <a:gd name="adj" fmla="val 2860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Transaksi ACID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2310384" cy="1387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Akun A mengirim dana ke Akun B melalui dua operasi berurutan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jaminan integritas saldo bila listrik mati setelah saldo A dikurangi namun sebelum saldo B bertambah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70504" y="1207008"/>
            <a:ext cx="2602992" cy="1918335"/>
          </a:xfrm>
          <a:prstGeom prst="roundRect">
            <a:avLst>
              <a:gd name="adj" fmla="val 2860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6808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Aturan CASCADE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16808" y="1627632"/>
            <a:ext cx="2310384" cy="1387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dampak ON DELETE CASCADE pada relasi mahasiswa dan krs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bahaya operasional serta alternatif penegakan integritas yang lebih aman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8088" y="1207008"/>
            <a:ext cx="2602992" cy="1918335"/>
          </a:xfrm>
          <a:prstGeom prst="roundRect">
            <a:avLst>
              <a:gd name="adj" fmla="val 2860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4392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Struktur 3NF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84392" y="1627632"/>
            <a:ext cx="2310384" cy="1387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karyawan memuat id_karyawan, nama_karyawan, id_departemen, dan lokasi_departemen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apakah struktur tersebut telah memenuhi 3NF beserta analisis ketergantungan fungsionalnya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TUGAS PRAKTIK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Perancangan ERD E-Library Kampus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652114" cy="3410712"/>
          </a:xfrm>
          <a:prstGeom prst="roundRect">
            <a:avLst>
              <a:gd name="adj" fmla="val 160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33595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 tugas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335950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Rancang basis data relasional untuk sistem peminjaman buku perpustakaan kampus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mencatat data mahasiswa, buku, penerbit, serta riwayat peminjaman dan pengembalian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337914" y="1207008"/>
            <a:ext cx="43031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Spesifikasi persyaratan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337914" y="1499616"/>
            <a:ext cx="4303166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Desain ERD logis untuk entitas Mahasiswa, Buku, Penerbit, dan Transaksi Peminjaman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Identifikasi seluruh atribut termasuk Primary Key dan Foreign Key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Tunjukkan simulasi normalisasi dari UNF ke 1NF, 2NF, hingga 3NF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Susun rancangan tabel akhir dalam format tabel Markdown lengkap dengan tipe data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visualisasi relasi kunci menggunakan diagram Mermaid atau diagram alur teks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hasil pada berkas 06-tugas-pemodelan-database.md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1323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PENUTUP MODUL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98755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Rangkuman Modul 6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Relasional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9224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disajikan sebagai tabel dua dimensi berisi baris dan kolom, dikelola oleh perangkat lunak RDBMS.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74036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20340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20340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Atomicity, Consistency, Isolation, dan Durability menjamin integritas data saat terjadi kegagalan sistem.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45152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1456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Kunci Relasional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91456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Key, Foreign Key, dan aturan integritas referensial mengikat tabel menjadi satu skema utuh.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16268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62572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Normalisasi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62572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Konversi bertahap hingga 3NF menghapus redundansi serta anomali sisip, hapus, dan pembaruan.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76732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berikutnya: Manipulasi Data dengan SQL dan phpMyAdmin.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Pemrograman Website — Modul 6</dc:title>
  <dc:subject>PptxGenJS Presentation</dc:subject>
  <dc:creator>Departemen Teknik Informatika, Universitas Hasanuddin</dc:creator>
  <cp:lastModifiedBy>Departemen Teknik Informatika, Universitas Hasanuddin</cp:lastModifiedBy>
  <cp:revision>1</cp:revision>
  <dcterms:created xsi:type="dcterms:W3CDTF">2026-08-18T05:49:09Z</dcterms:created>
  <dcterms:modified xsi:type="dcterms:W3CDTF">2026-08-18T05:49:09Z</dcterms:modified>
</cp:coreProperties>
</file>