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7952" y="566928"/>
            <a:ext cx="768096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66420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MATA KULIAH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19385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Website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2542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14</a:t>
            </a:r>
            <a:endParaRPr lang="en-US" sz="1500" dirty="0"/>
          </a:p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4F1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Pemrograman Server-Side Enterprise Menggunakan NestJS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3950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Teknik Informatika, Fakultas Teknik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Hasanuddin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MATERI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Pembahasan Modul 14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922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4922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dan kebutuhan arsitektur berstandar tinggi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163470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9774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309774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Teoritis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09774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Injection, tiga komponen utama, DTO, dan pipa validasi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2402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032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7032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97032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Penulisan dekorator dan penggunaan exception filter bawaan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4571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0875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A5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630875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30875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pendaftaran mahasiswa dengan validasi DTO dan injeksi layanan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45122" y="1207008"/>
            <a:ext cx="1495958" cy="3017520"/>
          </a:xfrm>
          <a:prstGeom prst="roundRect">
            <a:avLst>
              <a:gd name="adj" fmla="val 3667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1426" y="1298448"/>
            <a:ext cx="12033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5B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291426" y="1645920"/>
            <a:ext cx="12033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291426" y="2066544"/>
            <a:ext cx="120335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siklus hidup provider dan tugas API inventaris laboratorium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2920" y="4370832"/>
            <a:ext cx="8138160" cy="329184"/>
          </a:xfrm>
          <a:prstGeom prst="roundRect">
            <a:avLst>
              <a:gd name="adj" fmla="val 13889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370832"/>
            <a:ext cx="7845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mengadopsi pola desain terstruktur menggunakan TypeScript untuk proyek berskala besar.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Pendahuluan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 Modul 14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Relevansi terhadap kontainerisasi dan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CAPAIAN PEMBELAJARAN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Kemampuan Akhir yang Diharapkan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Menganalisis perbedaan arsitektur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kebebasan penataan kode Express dengan struktur modular NestJS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kesesuaian keduanya untuk proyek berskala enterprise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Mengimplementasikan Dependency Injection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prinsip Inversion of Control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Memanfaatkan dekorator bawaan untuk menyuntikkan dependensi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tiga lapis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aplikasi ke dalam modul, pengendali, dan penyedia layanan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tanggung jawab tiap lapisan tetap terpisah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2753868"/>
            <a:ext cx="3986784" cy="1382268"/>
          </a:xfrm>
          <a:prstGeom prst="roundRect">
            <a:avLst>
              <a:gd name="adj" fmla="val 396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85445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Menerapkan validasi dan pengamanan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00600" y="3174492"/>
            <a:ext cx="3694176" cy="851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Data Transfer Object bersama pustaka validator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Merancang pengamanan rute melalui guard yang memverifikasi token otentikasi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RELEVANSI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Kebebasan Menuju Struktur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62869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Posisi dalam alur mata kuliah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4628693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memberi kebebasan penuh menata kode, yang pada tim besar sering berujung pada kekacauan struktur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menawarkan solusi arsitektur berstandar tinggi dengan pola desain yang terstruktur menggunakan TypeScript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Kompetensi ini menyiapkan mahasiswa membangun backend berskala besar yang siap dikontainerisasi dan dideploy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14493" y="1207008"/>
            <a:ext cx="3326587" cy="3410712"/>
          </a:xfrm>
          <a:prstGeom prst="roundRect">
            <a:avLst>
              <a:gd name="adj" fmla="val 164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60797" y="1307592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Dampak ke Modul Lain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60797" y="1627632"/>
            <a:ext cx="3033979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15: kontainerisasi aplikasi menggunakan Docker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16: deployment di balik reverse proxy Nginx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Konsep Teoritis dan Arsitektur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terstruktur NestJS dan TypeScript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dan IoC Container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komponen utama NestJS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masukan melalui DTO dan Pipes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ARSITEKTUR NESTJS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Progresif Berbasis TypeScript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 utama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1499616"/>
            <a:ext cx="3977640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Node.js progresif untuk membangun aplikasi sisi server yang efisien dan andal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Dirancang untuk skalabilitas tinggi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Ditulis menggunakan bahasa TypeScript penuh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Jaminan tipe data statis membuat kesalahan sintaksis terdeteksi sebelum aplikasi dijalankan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207008"/>
            <a:ext cx="3977640" cy="3410712"/>
          </a:xfrm>
          <a:prstGeom prst="roundRect">
            <a:avLst>
              <a:gd name="adj" fmla="val 1609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9744" y="130759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pendekatan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09744" y="1627632"/>
            <a:ext cx="368503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membiarkan pengembang menentukan sendiri seluruh struktur proyek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menetapkan kerangka baku sehingga setiap anggota tim menulis kode dengan pola yang sama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Konsistensi ini yang membuatnya cocok untuk proyek berskala enterprise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DEPENDENCY INJECTION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Membalik Kendali Pembuatan Objek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 memisahkan pembuatan objek dari penggunaan objek tersebut, mewujudkan prinsip Inversion of Control.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Inversion of Control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menuliskan sendiri perintah pembuatan instance layanan yang dibutuhkannya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kelas menjadi terikat mati secara kaku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Penggantian implementasi menuntut perubahan di banyak berkas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IoC Container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Pengendali cukup menyatakan bahwa ia membutuhkan sebuah layanan melalui parameter konstruktornya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internal NestJS mencari, membuat instansiasi, lalu menyuntikkan dependensi tersebut secara otomatis saat aplikasi dimulai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kode inisialisasi manual yang perlu ditulis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TIGA KOMPONEN UTAMA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Pembagian Tanggung Jawab Aplikasi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60172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16017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4984" y="120700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64408" y="120700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berdekorator module yang mengelompokkan komponen saling terkait secara logis. Setiap aplikasi memiliki minimal satu modul akar.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38048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F3F7F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936" y="2775204"/>
            <a:ext cx="274320" cy="274320"/>
          </a:xfrm>
          <a:prstGeom prst="ellipse">
            <a:avLst/>
          </a:prstGeom>
          <a:solidFill>
            <a:srgbClr val="D98A1F"/>
          </a:solidFill>
          <a:ln w="6350">
            <a:solidFill>
              <a:srgbClr val="D98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" y="27752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14984" y="238048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64408" y="238048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Bertanggung jawab menangani permintaan HTTP yang masuk dan mengembalikan respons ke klien. Pemetaan rute dilakukan melalui dekorator metode HTTP.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53968"/>
            <a:ext cx="8138160" cy="1063752"/>
          </a:xfrm>
          <a:prstGeom prst="roundRect">
            <a:avLst>
              <a:gd name="adj" fmla="val 5158"/>
            </a:avLst>
          </a:prstGeom>
          <a:solidFill>
            <a:srgbClr val="E8EFF6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" y="3948684"/>
            <a:ext cx="274320" cy="274320"/>
          </a:xfrm>
          <a:prstGeom prst="ellipse">
            <a:avLst/>
          </a:prstGeom>
          <a:solidFill>
            <a:srgbClr val="0E7C86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9486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984" y="3553968"/>
            <a:ext cx="219456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dan Services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64408" y="3553968"/>
            <a:ext cx="5212080" cy="1063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berdekorator injectable yang dapat didaftarkan sebagai dependensi. Lapisan ini murni menangani logika bisnis dan interaksi basis data.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VALIDASI MASUKAN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Middleware Manual ke Pipa Deklaratif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Express, validasi masukan ditulis manual di dalam middleware. NestJS menyediakan solusi deklaratif yang lebih ringkas.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Transfer Object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922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khusus yang mendefinisikan skema struktur data yang dikirimkan klien pada badan permintaan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validasi dipasang sebagai dekorator pada tiap properti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dekoratornya menguji tipe string, format email, dan panjang minimum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719072"/>
            <a:ext cx="3977640" cy="2898648"/>
          </a:xfrm>
          <a:prstGeom prst="roundRect">
            <a:avLst>
              <a:gd name="adj" fmla="val 1893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819656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ValidationPipe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09744" y="2139696"/>
            <a:ext cx="3685032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bawaan yang otomatis membaca dekorator validasi pada properti DTO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data tidak sesuai aturan, permintaan langsung ditolak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kesalahan dikembalikan secara seragam beserta detail kolom yang salah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layanan tidak pernah sempat dieksekusi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Standardisasi dan Best Practices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 penulisan dekorator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Penggunaan exception filter bawaan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BEST PRACTICES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Disiplin Penulisan Kode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dekorator parameter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Ambil data HTTP secara deklaratif melalui dekorator bawaan untuk badan permintaan, parameter rute, dan kueri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Hindari mengakses objek permintaan Express secara mentah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ini menjaga portabilitas kode terhadap perubahan lapisan HTTP di bawahnya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54296" y="1207008"/>
            <a:ext cx="3986784" cy="1959483"/>
          </a:xfrm>
          <a:prstGeom prst="roundRect">
            <a:avLst>
              <a:gd name="adj" fmla="val 280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307592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Gunakan exception bawaan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627632"/>
            <a:ext cx="3694176" cy="142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Lempar kesalahan menggunakan kelas eksepsi bawaan seperti HttpException dan NotFoundException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 JSON kesalahan yang diterima klien menjadi konsisten dan berformat standar industri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Praktis dan Studi Kasus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pendaftaran mahasiswa berbasis arsitektur modular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Pembahasan baris kode krusial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Transfer Object dan Aturan Validasi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berkas DTO yang mendefinisikan aturan validasi masukan data mahasiswa secara deklaratif.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52704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SRC/STUDENT/DTO/CREATE-STUDENT.DTO.TS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746504"/>
            <a:ext cx="8138160" cy="2871216"/>
          </a:xfrm>
          <a:prstGeom prst="roundRect">
            <a:avLst>
              <a:gd name="adj" fmla="val 1911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819656"/>
            <a:ext cx="7918704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IsString, IsEmail, Length, IsNotEmpty }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'class-validator';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CreateStudentDto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@IsString()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@IsNotEmpty({ message: 'NIM tidak boleh kosong.' })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@Length(10, 10, {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message: 'NIM harus memiliki panjang tepat 10 karakter.' })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nim: string;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@IsString()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@IsNotEmpty({ message: 'Nama lengkap wajib diisi.' })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nama: string;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@IsEmail({}, { message: 'Format alamat email tidak valid.' })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string;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@IsString()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@IsNotEmpty()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jurusan: string;</a:t>
            </a:r>
            <a:endParaRPr lang="en-US" sz="781" dirty="0"/>
          </a:p>
          <a:p>
            <a:pPr indent="0" marL="0">
              <a:lnSpc>
                <a:spcPts val="1015"/>
              </a:lnSpc>
              <a:buNone/>
            </a:pPr>
            <a:r>
              <a:rPr lang="en-US" sz="78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8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Penyedia Layanan dan Logika Bisnis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service menangani manipulasi penyimpanan data dan melempar eksepsi terstruktur saat aturan bisnis dilanggar.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SRC/STUDENT/STUDENT.SERVICE.TS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02920" y="1938528"/>
            <a:ext cx="8138160" cy="2679192"/>
          </a:xfrm>
          <a:prstGeom prst="roundRect">
            <a:avLst>
              <a:gd name="adj" fmla="val 2048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011680"/>
            <a:ext cx="7918704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Injectable, BadRequestException } from '@nestjs/common';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CreateStudentDto } from './dto/create-student.dto';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@Injectable()   // kelas ini dapat disuntikkan sebagai dependency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StudentService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students = [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nim: 'D121241001', nama: 'Rian Diantara',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email: 'rian@unhas.ac.id', jurusan: 'Informatika'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findAll()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this.students;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create(createStudentDto: CreateStudentDto)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exists = this.students.find(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 =&gt; s.nim === createStudentDto.nim);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(exists)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throw new BadRequestException(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'NIM tersebut sudah terdaftar di sistem.');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newStudent = { ...createStudentDto };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this.students.push(newStudent);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newStudent;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Pengendali Rute dan Pendaftaran Modul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SRC/STUDENT/STUDENT.CONTROLLER.TS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@Controller('api/v1/students')   // prefix URL rute utama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StudentController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Dependency Injection melalui parameter konstruktor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constructor(private readonly studentService: StudentService) {}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@Get()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getAllStudents()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data = this.studentService.findAll();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 data };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@Post()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registerStudent(@Body() createStudentDto: CreateStudentDto) {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const data = this.studentService.create(createStudentDto);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 message: 'Mahasiswa berhasil ditambahkan.', data };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550" dirty="0"/>
          </a:p>
          <a:p>
            <a:pPr indent="0" marL="0">
              <a:lnSpc>
                <a:spcPts val="715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550" dirty="0"/>
          </a:p>
        </p:txBody>
      </p:sp>
      <p:sp>
        <p:nvSpPr>
          <p:cNvPr id="7" name="Text 5"/>
          <p:cNvSpPr/>
          <p:nvPr/>
        </p:nvSpPr>
        <p:spPr>
          <a:xfrm>
            <a:off x="502920" y="29946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SRC/STUDENT/STUDENT.MODULE.TS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3214116"/>
            <a:ext cx="8138160" cy="1403604"/>
          </a:xfrm>
          <a:prstGeom prst="roundRect">
            <a:avLst>
              <a:gd name="adj" fmla="val 390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" y="3287268"/>
            <a:ext cx="791870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@Module({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controllers: [StudentController],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providers:   [StudentService]   // terdaftar sebagai Provider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class StudentModule {}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STUDI KASUS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Inisialisasi Aplikasi dan Pipa Validasi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44659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SRC/MAIN.TS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1426464"/>
            <a:ext cx="4465930" cy="3191256"/>
          </a:xfrm>
          <a:prstGeom prst="roundRect">
            <a:avLst>
              <a:gd name="adj" fmla="val 1719"/>
            </a:avLst>
          </a:prstGeom>
          <a:solidFill>
            <a:srgbClr val="11253C"/>
          </a:solidFill>
          <a:ln w="12700">
            <a:solidFill>
              <a:srgbClr val="1125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99616"/>
            <a:ext cx="4246474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bootstrap() 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app = await NestFactory.create(AppModule);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1. Aktifkan Global Validation Pipe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app.useGlobalPipes(new ValidationPipe({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whitelist: true,   // hapus properti di luar DTO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transform: true,   // konversi tipe otomatis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2. Aktifkan CORS untuk front-end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app.enableCors({ origin: 'http://localhost:3000' });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app.listen(5000);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bootstrap();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51730" y="1207008"/>
            <a:ext cx="3489350" cy="3410712"/>
          </a:xfrm>
          <a:prstGeom prst="roundRect">
            <a:avLst>
              <a:gd name="adj" fmla="val 1609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98034" y="1307592"/>
            <a:ext cx="3196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whitelist penting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98034" y="1627632"/>
            <a:ext cx="319674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penyerang mengirimkan parameter tambahan berbahaya di luar definisi DTO, pipa validasi menghapusnya secara otomatis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Penghapusan terjadi sebelum data sempat masuk ke basis data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Opsi transform memastikan tipe parameter dikonversi sesuai definisi DTO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PEMBAHASAN KODE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Penjelasan Alur dan Logika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07008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394960"/>
              </a:tblGrid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Baris kode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Peran dalam program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constructor(private readonly service)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 Container membaca tipe data parameter konstruktor melalui refleksi TypeScript, lalu menyuntikkan instance yang sudah ada di memori tanpa inisialisasi manual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useGlobalPipes(new ValidationPipe)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Mengaktifkan pengawasan pipa validasi di tingkat global sehingga seluruh rute otomatis tervalidasi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@IsEmail({}, { message })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Dekorator yang dievaluasi otomatis oleh pipa validasi, memintas eksekusi permintaan bila pola alamat email tidak dipatuhi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07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 new BadRequestException()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D3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Menghentikan aliran kode dan mengubahnya menjadi respons JSON standar berisi kode status, pesan, dan jenis kesalahan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377440" y="1508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Evaluasi dan Tugas Mandiri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377440" y="2432304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konseptual tingkat analisis</a:t>
            </a:r>
            <a:endParaRPr lang="en-US" sz="1200" dirty="0"/>
          </a:p>
          <a:p>
            <a:pPr indent="0" marL="0">
              <a:lnSpc>
                <a:spcPts val="1560"/>
              </a:lnSpc>
              <a:spcAft>
                <a:spcPts val="350"/>
              </a:spcAft>
              <a:buNone/>
            </a:pPr>
            <a:r>
              <a:rPr lang="en-US" sz="12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praktik pemecahan masalah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PERTANYAAN KONSEPTUAL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Tingkat Tinggi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Dependency Injection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Jelaskan perbedaan mendasar antara siklus hidup provider bertipe singleton dan bertipe transient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konsep singleton dinilai lebih menghemat penggunaan memori server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70504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FBEEDA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6808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DTO Whitelisting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16808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opsi whitelist melindungi basis data dari eksploitasi parameter massal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skenario ketika pengguna biasa mencoba mengirim parameter penanda administrator pada formulir registrasi profil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8088" y="1207008"/>
            <a:ext cx="2602992" cy="1918335"/>
          </a:xfrm>
          <a:prstGeom prst="roundRect">
            <a:avLst>
              <a:gd name="adj" fmla="val 2860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4392" y="1307592"/>
            <a:ext cx="2310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Modularitas Aplikasi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84392" y="1627632"/>
            <a:ext cx="2310384" cy="1387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setiap controller dan service wajib didaftarkan di dalam sebuah kelas modul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bagaimana modularitas membantu tim besar memelihara kode tanpa terjadi tabrakan ketergantungan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TUGAS PRAKTIK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API Inventaris Laboratorium Komputer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3163824" cy="3410712"/>
          </a:xfrm>
          <a:prstGeom prst="roundRect">
            <a:avLst>
              <a:gd name="adj" fmla="val 1734"/>
            </a:avLst>
          </a:prstGeom>
          <a:solidFill>
            <a:srgbClr val="E4F1F2"/>
          </a:solidFill>
          <a:ln w="9525">
            <a:solidFill>
              <a:srgbClr val="DCE5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307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5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tugas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9224" y="1627632"/>
            <a:ext cx="287121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Bangun modul backend inventaris laboratorium komputer menggunakan NestJS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menyediakan rute untuk menampilkan inventaris barang dan menambahkan barang baru</a:t>
            </a:r>
            <a:endParaRPr lang="en-US" sz="1050" dirty="0"/>
          </a:p>
          <a:p>
            <a:pPr marL="152400" indent="-152400">
              <a:lnSpc>
                <a:spcPts val="1365"/>
              </a:lnSpc>
              <a:spcAft>
                <a:spcPts val="350"/>
              </a:spcAft>
              <a:buSzPct val="100000"/>
              <a:buChar char="•"/>
            </a:pPr>
            <a:r>
              <a:rPr lang="en-US" sz="105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kode ditulis dengan TypeScript terstruktur berpola modular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9624" y="1207008"/>
            <a:ext cx="4791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Spesifikasi persyaratan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849624" y="1499616"/>
            <a:ext cx="4791456" cy="3118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 modul baru bernama InventoryModule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DTO yang memvalidasi nama barang tidak kosong, kode barang berawalan tertentu diikuti angka, dan jumlah barang berupa bilangan bulat positif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service penyimpan data inventaris di memori lengkap dengan penanganan eksepsi bila nama barang sudah ada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controller yang memetakan rute inventaris menggunakan dekorator HTTP yang sesuai dan menghubungkan service melalui Dependency Injection</a:t>
            </a:r>
            <a:endParaRPr lang="en-US" sz="1100" dirty="0"/>
          </a:p>
          <a:p>
            <a:pPr marL="152400" indent="-152400">
              <a:lnSpc>
                <a:spcPts val="1430"/>
              </a:lnSpc>
              <a:spcAft>
                <a:spcPts val="350"/>
              </a:spcAft>
              <a:buSzPct val="100000"/>
              <a:buChar char="•"/>
            </a:pPr>
            <a:r>
              <a:rPr lang="en-US" sz="1100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pipa validasi global pada berkas inisialisasi aplikasi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13232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 MODUL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31520" y="987552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Modul 14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9224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menetapkan kerangka baku berbasis TypeScript sehingga struktur kode tetap konsisten pada tim besar.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74036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0340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Injection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720340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Container membuat dan menyuntikkan dependensi secara otomatis berdasarkan tipe parameter konstruktor.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45152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Tiga Lapisan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91456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mengelompokkan komponen, controller menangani HTTP, dan service menyimpan logika bisnis.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16268" y="1783080"/>
            <a:ext cx="1924812" cy="1737360"/>
          </a:xfrm>
          <a:prstGeom prst="roundRect">
            <a:avLst>
              <a:gd name="adj" fmla="val 3158"/>
            </a:avLst>
          </a:prstGeom>
          <a:solidFill>
            <a:srgbClr val="11253C"/>
          </a:solidFill>
          <a:ln w="9525">
            <a:solidFill>
              <a:srgbClr val="1E3E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62572" y="190195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62572" y="2231136"/>
            <a:ext cx="163220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D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 berdekorator dievaluasi pipa validasi global, menolak data tidak valid sebelum logika bisnis dijalankan.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7673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berikutnya: Kontainerisasi Aplikasi Web dengan Docker.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Pemrograman Website — Modul 14</dc:title>
  <dc:subject>PptxGenJS Presentation</dc:subject>
  <dc:creator>Departemen Teknik Informatika, Universitas Hasanuddin</dc:creator>
  <cp:lastModifiedBy>Departemen Teknik Informatika, Universitas Hasanuddin</cp:lastModifiedBy>
  <cp:revision>1</cp:revision>
  <dcterms:created xsi:type="dcterms:W3CDTF">2026-08-18T06:10:57Z</dcterms:created>
  <dcterms:modified xsi:type="dcterms:W3CDTF">2026-08-18T06:10:57Z</dcterms:modified>
</cp:coreProperties>
</file>