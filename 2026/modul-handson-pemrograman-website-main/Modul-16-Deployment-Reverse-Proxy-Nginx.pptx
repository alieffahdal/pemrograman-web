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952" y="566928"/>
            <a:ext cx="768096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66420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31520" y="19385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Pemrograman Website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2542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16</a:t>
            </a:r>
            <a:endParaRPr lang="en-US" sz="17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Reverse Proxy, SSL, dan Deployment Menggunakan Nginx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31520" y="39502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 Teknik Informatika, Fakultas Teknik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Hasanuddin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MATERI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Pembahasan Modul 16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922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922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dan posisi modul sebagai puncak integrasi mata kuliah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6347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977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30977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Teoritis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0977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dan reverse proxy, arsitektur Nginx, serta sertifikat SSL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2402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032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7032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7032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Pengamanan Nginx dan pembatasan ukuran unggahan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457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087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63087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3087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aplikasi fullstack pada server dengan domain publik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45122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1426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291426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91426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SSL termination dan tugas konfigurasi load balancing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ini mendemonstrasikan bagaimana seluruh komponen dideploy ke server nyata agar dapat diakses publik secara aman.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Pendahuluan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Modul 16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Relevansi sebagai puncak integrasi silabus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CAPAIAN PEMBELAJARAN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Kemampuan Akhir yang Diharapkan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jenis proxy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karakteristik arsitektur forward proxy dan reverse proxy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Menempatkan keduanya secara tepat dalam infrastruktur jaringan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konfigurasi virtual host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berkas konfigurasi untuk domain publik utama dan subdomain API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Meneruskan lalu lintas data secara aman ke layanan kontainer internal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Mengimplementasikan enkripsi HTTPS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sertifikat SSL gratis dari otoritas sertifikat nirlaba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Mengotomasi pemasangannya melalui perkakas Certbot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Menilai parameter keamanan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Mencegah serangan kebocoran informasi versi perangkat lunak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Membatasi ukuran unggahan berkas dari formulir HTTP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RELEVANSI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Puncak Integrasi Seluruh Silabus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6286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dalam alur mata kuliah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628693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Front-end, back-end, dan kontainerisasi telah dikuasai pada modul sebelumnya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ini mendemonstrasikan bagaimana seluruh komponen dideploy ke server internet nyata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menjadi dapat diakses publik menggunakan nama domain resmi dengan jaminan enkripsi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14493" y="1207008"/>
            <a:ext cx="3326587" cy="3410712"/>
          </a:xfrm>
          <a:prstGeom prst="roundRect">
            <a:avLst>
              <a:gd name="adj" fmla="val 164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0797" y="1307592"/>
            <a:ext cx="3033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Prasyarat yang dibutuhkan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60797" y="1627632"/>
            <a:ext cx="303397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dan back-end telah berjalan sebagai kontainer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virtual dengan sistem operasi Linux telah tersedia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domain telah diarahkan ke alamat IP server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Teoritis dan Arsitektur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proxy dibandingkan reverse proxy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event-driven Nginx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 SSL/TLS dan Let's Encrypt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JENIS PROXY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Mewakili Klien atau Mewakili Server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77640" cy="3410712"/>
          </a:xfrm>
          <a:prstGeom prst="roundRect">
            <a:avLst>
              <a:gd name="adj" fmla="val 160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Proxy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8503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Bertindak mewakili klien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 mengirim permintaan ke proxy, lalu proxy meneruskannya ke internet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Berguna untuk membuka blokir situs, menyembunyikan alamat IP asli klien, atau menyaring konten dari dalam jaringan internal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207008"/>
            <a:ext cx="3977640" cy="3410712"/>
          </a:xfrm>
          <a:prstGeom prst="roundRect">
            <a:avLst>
              <a:gd name="adj" fmla="val 160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9744" y="13075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9744" y="1627632"/>
            <a:ext cx="368503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Bertindak mewakili server web tujuan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 di internet hanya mengetahui alamat IP reverse proxy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Permintaan dianalisis jalurnya lalu diteruskan secara internal ke server aplikasi yang sesungguhnya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REVERSE PROXY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Keuntungan Utama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Alamat IP asli dan porta internal server aplikasi tersembunyi sepenuhnya dari dunia luar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Serangan eksploitasi langsung ke porta aplikasi menjadi tercegah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Termination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enkripsi dan dekripsi yang berat ditangani di tingkat terluar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Komunikasi menuju kontainer internal dapat menggunakan protokol biasa yang ringan sehingga menghemat beban CPU aplikasi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Beban lalu lintas masuk dapat dibagi merata ke beberapa instance kontainer yang berjalan paralel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Penambahan kapasitas cukup dilakukan di sisi konfigurasi proxy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MENGAPA NGINX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Model Penanganan Koneksi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77640" cy="3410712"/>
          </a:xfrm>
          <a:prstGeom prst="roundRect">
            <a:avLst>
              <a:gd name="adj" fmla="val 160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berbasis proses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8503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satu permintaan pengguna diwakili oleh satu thread proses pekerja baru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 server cepat terpakai habis ketika ribuan pengguna berkunjung bersamaan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ini dipakai oleh server web tradisional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207008"/>
            <a:ext cx="3977640" cy="3410712"/>
          </a:xfrm>
          <a:prstGeom prst="roundRect">
            <a:avLst>
              <a:gd name="adj" fmla="val 160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9744" y="13075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asynchronous event-driven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9744" y="1627632"/>
            <a:ext cx="368503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Sejumlah kecil proses pekerja dipertahankan konstan sesuai jumlah inti CPU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pekerja menangani ribuan koneksi secara asinkronus melalui sistem antrean kejadian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Mampu melayani lebih dari sepuluh ribu koneksi konkuren dengan konsumsi memori yang sangat kecil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SSL DAN TLS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Mengamankan Komunikasi Data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1404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 enkripsi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140403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dan TLS adalah protokol kriptografi untuk mengamankan komunikasi data melalui jaringan komputer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memadukan enkripsi asimetris berupa pasangan kunci publik dan privat selama jabat tangan awal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Jabat tangan tersebut menyepakati kunci simetris sekali pakai yang dipakai mengenkripsi aliran data selanjutnya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26203" y="1207008"/>
            <a:ext cx="38148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perkakas kunci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26203" y="1499616"/>
            <a:ext cx="1602248" cy="1467612"/>
          </a:xfrm>
          <a:prstGeom prst="roundRect">
            <a:avLst>
              <a:gd name="adj" fmla="val 3115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81067" y="1499616"/>
            <a:ext cx="149252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Encrypt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56467" y="1499616"/>
            <a:ext cx="2084613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Otoritas sertifikat nirlaba global yang menyediakan sertifikat enkripsi secara gratis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826203" y="3058668"/>
            <a:ext cx="1602248" cy="1467612"/>
          </a:xfrm>
          <a:prstGeom prst="roundRect">
            <a:avLst>
              <a:gd name="adj" fmla="val 3115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1067" y="3058668"/>
            <a:ext cx="149252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Certbot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56467" y="3058668"/>
            <a:ext cx="2084613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 otomatis yang memvalidasi kepemilikan domain, mengunduh sertifikat, memasangnya ke konfigurasi, dan memperbaruinya sebelum masa berlaku habis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Standardisasi dan Best Practices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Pengamanan konfigurasi Nginx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Pembatasan ukuran payload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SECURITY HARDENING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Direktif Pertahanan Dasar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780794"/>
          </a:xfrm>
          <a:prstGeom prst="roundRect">
            <a:avLst>
              <a:gd name="adj" fmla="val 308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Sembunyikan versi Nginx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125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 bawaan informasi versi ditampilkan pada halaman kesalahan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Matikan fitur ini melalui direktif server_tokens off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ini mempersulit peretas menganalisis kerentanan versi yang Anda gunakan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780794"/>
          </a:xfrm>
          <a:prstGeom prst="roundRect">
            <a:avLst>
              <a:gd name="adj" fmla="val 3081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Batasi ukuran payload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125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Cegah serangan penolakan layanan yang membanjiri ruang disk server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Batasi ukuran maksimal berkas yang boleh diunggah melalui direktif client_max_body_size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Sesuaikan batas tersebut dengan kebutuhan nyata aplikasi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Praktis dan Studi Kasus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aplikasi fullstack pada server publik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Pembahasan konfigurasi krusial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Blok Upstream dan Server Block Domain Utama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berkas konfigurasi virtual host pada direktori sites-available di server Anda.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270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/ETC/NGINX/SITES-AVAILABLE/AKADEMIK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746504"/>
            <a:ext cx="8138160" cy="2871216"/>
          </a:xfrm>
          <a:prstGeom prst="roundRect">
            <a:avLst>
              <a:gd name="adj" fmla="val 1911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819656"/>
            <a:ext cx="791870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Upstream: server target internal Docker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upstream frontend_upstream {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server 127.0.0.1:3000;   # kontainer Next.js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upstream backend_upstream {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server 127.0.0.1:5000;   # kontainer NestJS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Server Block: domain utama (Front-End)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{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listen 80;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server_name akademik.my.id www.akademik.my.id;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server_tokens off;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client_max_body_size 10M;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location / {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proxy_pass http://frontend_upstream;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proxy_set_header Host              $host;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proxy_set_header X-Real-IP         $remote_addr;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proxy_set_header X-Forwarded-For   $proxy_add_x_forwarded_for;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proxy_set_header X-Forwarded-Proto $scheme;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56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Block Subdomain API dan Aktivasi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BLOCK SUBDOMAIN API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8138160" cy="1403604"/>
          </a:xfrm>
          <a:prstGeom prst="roundRect">
            <a:avLst>
              <a:gd name="adj" fmla="val 390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99616"/>
            <a:ext cx="7918704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{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listen 80;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server_name api.akademik.my.id;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server_tokens off;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client_max_body_size 15M;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location / {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proxy_pass http://backend_upstream;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proxy_set_header Host              $host;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proxy_set_header X-Real-IP         $remote_addr;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proxy_set_header X-Forwarded-For   $proxy_add_x_forwarded_for;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proxy_set_header X-Forwarded-Proto $scheme;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502920" y="299466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AKTIVASI KONFIGURASI DI TERMINAL SERVER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3214116"/>
            <a:ext cx="8138160" cy="1403604"/>
          </a:xfrm>
          <a:prstGeom prst="roundRect">
            <a:avLst>
              <a:gd name="adj" fmla="val 390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3287268"/>
            <a:ext cx="7918704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0"/>
              </a:lnSpc>
              <a:buNone/>
            </a:pPr>
            <a:r>
              <a:rPr lang="en-US" sz="938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Buat tautan simbolis ke direktori sites-enabled</a:t>
            </a:r>
            <a:endParaRPr lang="en-US" sz="938" dirty="0"/>
          </a:p>
          <a:p>
            <a:pPr indent="0" marL="0">
              <a:lnSpc>
                <a:spcPts val="1220"/>
              </a:lnSpc>
              <a:buNone/>
            </a:pPr>
            <a:r>
              <a:rPr lang="en-US" sz="938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ln -s /etc/nginx/sites-available/akademik /etc/nginx/sites-enabled/</a:t>
            </a:r>
            <a:endParaRPr lang="en-US" sz="938" dirty="0"/>
          </a:p>
          <a:p>
            <a:pPr indent="0" marL="0">
              <a:lnSpc>
                <a:spcPts val="1220"/>
              </a:lnSpc>
              <a:buNone/>
            </a:pPr>
            <a:r>
              <a:rPr lang="en-US" sz="938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38" dirty="0"/>
          </a:p>
          <a:p>
            <a:pPr indent="0" marL="0">
              <a:lnSpc>
                <a:spcPts val="1220"/>
              </a:lnSpc>
              <a:buNone/>
            </a:pPr>
            <a:r>
              <a:rPr lang="en-US" sz="938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Uji integritas sintaksis berkas konfigurasi</a:t>
            </a:r>
            <a:endParaRPr lang="en-US" sz="938" dirty="0"/>
          </a:p>
          <a:p>
            <a:pPr indent="0" marL="0">
              <a:lnSpc>
                <a:spcPts val="1220"/>
              </a:lnSpc>
              <a:buNone/>
            </a:pPr>
            <a:r>
              <a:rPr lang="en-US" sz="938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nginx -t</a:t>
            </a:r>
            <a:endParaRPr lang="en-US" sz="938" dirty="0"/>
          </a:p>
          <a:p>
            <a:pPr indent="0" marL="0">
              <a:lnSpc>
                <a:spcPts val="1220"/>
              </a:lnSpc>
              <a:buNone/>
            </a:pPr>
            <a:r>
              <a:rPr lang="en-US" sz="938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38" dirty="0"/>
          </a:p>
          <a:p>
            <a:pPr indent="0" marL="0">
              <a:lnSpc>
                <a:spcPts val="1220"/>
              </a:lnSpc>
              <a:buNone/>
            </a:pPr>
            <a:r>
              <a:rPr lang="en-US" sz="938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Bila uji sukses, muat ulang layanan</a:t>
            </a:r>
            <a:endParaRPr lang="en-US" sz="938" dirty="0"/>
          </a:p>
          <a:p>
            <a:pPr indent="0" marL="0">
              <a:lnSpc>
                <a:spcPts val="1220"/>
              </a:lnSpc>
              <a:buNone/>
            </a:pPr>
            <a:r>
              <a:rPr lang="en-US" sz="938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reload nginx</a:t>
            </a:r>
            <a:endParaRPr lang="en-US" sz="938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Pemasangan Sertifikat SSL Otomatis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Certbot memvalidasi kepemilikan domain, mengunduh sertifikat, lalu memodifikasi konfigurasi Nginx secara otomatis.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7190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INSTALASI DAN PENERBITAN SERTIFIKAT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8138160" cy="2679192"/>
          </a:xfrm>
          <a:prstGeom prst="roundRect">
            <a:avLst>
              <a:gd name="adj" fmla="val 2048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2011680"/>
            <a:ext cx="7918704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Instalasi Certbot beserta plugin Nginx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update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install certbot python3-certbot-nginx -y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Terbitkan sertifikat untuk domain dan subdomain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Certbot otomatis menambahkan konfigurasi porta 443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dan membuat pengalihan permanen dari HTTP ke HTTPS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certbot --nginx \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-d akademik.my.id \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-d www.akademik.my.id \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-d api.akademik.my.id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PEMBAHASAN KONFIGURASI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Penjelasan Alur dan Logika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81381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486400"/>
              </a:tblGrid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Direktif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 dalam konfigurasi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upstream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Mendefinisikan alias kumpulan server internal. Penambahan server cadangan cukup dengan menulis baris tambahan, dan beban akan dibagi secara otomatis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proxy_pass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Perintah inti yang mengaktifkan fungsi reverse proxy. Nginx menghentikan pembacaan koneksi klien luar lalu membuka koneksi internal baru ke alamat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proxy_set_header X-Real-IP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Tanpa direktif ini, aplikasi di belakang proxy selalu membaca alamat lokal. Baris ini menyalin alamat asli pengguna agar dapat dilacak untuk kebutuhan audit keamanan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certbot --nginx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Menempatkan berkas tantangan sementara untuk membuktikan kepemilikan domain, mengunduh sertifikat, lalu menyisipkan parameter enkripsi dan aturan pengalihan otomatis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 dan Tugas Mandiri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konseptual tingkat analisis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praktik pemecahan masalah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PERTANYAAN KONSEPTUAL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Tingkat Tinggi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SSL Termination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pemrosesan dekripsi disarankan diletakkan di tingkat reverse proxy dibanding di dalam server aplikasi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dari sudut pandang alokasi kinerja memori thread pada runtime aplikasi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Keamanan Headers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peran header X-Frame-Options dan Content-Security-Policy yang sering disisipkan pada konfigurasi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jenis serangan web, misalnya clickjacking, yang dapat dicegah oleh header tersebut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Kinerja Server Block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Nginx memutuskan server block mana yang memproses permintaan bila terdapat lima konfigurasi domain yang mendengarkan porta sama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mekanisme pencocokan header Host pada permintaan HTTP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TUGAS PRAKTIK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Konfigurasi Reverse Proxy dengan Load Balancing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163824" cy="3410712"/>
          </a:xfrm>
          <a:prstGeom prst="roundRect">
            <a:avLst>
              <a:gd name="adj" fmla="val 1734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tugas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87121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berkas konfigurasi virtual host untuk mendeploy portal informasi akademik universitas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memiliki sistem load balancing internal dengan API dilayani oleh dua kontainer yang berjalan paralel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akses wajib dialihkan otomatis ke HTTPS dan informasi versi perangkat lunak harus disembunyikan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9624" y="120700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persyaratan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9624" y="1499616"/>
            <a:ext cx="4791456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Definisikan blok upstream bernama backend_cluster yang membagi beban ke dua alamat porta berbeda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server block porta 80 yang memaksa pengalihan permanen ke alamat HTTPS beserta URI aslinya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server block porta 443 yang memasang jalur sertifikat, menyembunyikan versi, dan membatasi ukuran unggahan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Teruskan rute akar ke kontainer front-end dan rute API ke upstream cluster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Sertakan header alamat IP asli klien pada penerusan menuju API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hasil rancangan dengan nama 01-tugas-nginx.conf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1323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 MODUL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9875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Rangkuman Modul 16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berdiri di depan aplikasi, menyembunyikan porta internal sekaligus menangani enkripsi di tingkat terluar.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74036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0340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20340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Sejumlah kecil proses pekerja melayani ribuan koneksi konkuren dengan konsumsi memori yang sangat hemat.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91456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Certbot mengotomasi penerbitan, pemasangan, dan pembaruan sertifikat dari otoritas sertifikat nirlaba.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16268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2572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62572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Menyembunyikan versi dan membatasi ukuran unggahan menutup dua celah dasar yang sering dieksploitasi.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berikutnya: Kolaborasi Tim dan Kontrol Versi Git dan GitHub.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Website — Modul 16</dc:title>
  <dc:subject>PptxGenJS Presentation</dc:subject>
  <dc:creator>Departemen Teknik Informatika, Universitas Hasanuddin</dc:creator>
  <cp:lastModifiedBy>Departemen Teknik Informatika, Universitas Hasanuddin</cp:lastModifiedBy>
  <cp:revision>1</cp:revision>
  <dcterms:created xsi:type="dcterms:W3CDTF">2026-08-18T06:13:19Z</dcterms:created>
  <dcterms:modified xsi:type="dcterms:W3CDTF">2026-08-18T06:13:19Z</dcterms:modified>
</cp:coreProperties>
</file>