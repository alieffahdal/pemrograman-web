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952" y="566928"/>
            <a:ext cx="768096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66420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31520" y="19385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Pemrograman Website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2542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12</a:t>
            </a:r>
            <a:endParaRPr lang="en-US" sz="15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Front-End Modern Menggunakan Next.js (App Router)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39502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 Teknik Informatika, Fakultas Teknik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Hasanuddin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MATERI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Pembahasan Modul 12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922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922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dan kenaikan tingkat dari React ke aplikasi skala produksi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6347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977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30977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Teoritis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0977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rendering, React Server Components, App Router, dan caching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2402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032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7032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7032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Mengamankan token API dan mengoptimalkan ukuran bundle klien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457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087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63087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3087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mahasiswa berprestasi dengan SSR dan pencarian klien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45122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1426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291426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91426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hydration serta tugas rute dinamis berbasis ISR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mengatasi masalah performa pemuatan awal dan SEO yang biasa dihadapi aplikasi React SPA tradisional.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Pendahuluan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Modul 12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Relevansi terhadap modul API dan kontainerisasi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CAPAIAN PEMBELAJARAN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Kemampuan Akhir yang Diharapkan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metode rendering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karakteristik dan keuntungan CSR, SSR, SSG, dan ISR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strategi rendering yang sesuai kebutuhan halaman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jenis komponen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peran, batasan, dan integrasi React Server Components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Mengetahui kapan sebuah komponen harus ditandai sebagai Client Component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perutean berbasis folder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sistem navigasi memanfaatkan arsitektur App Router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rute statis maupun rute dinamis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Mengoptimalkan performa dan SEO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pengambilan data, penyimpanan singgahan, dan revalidasi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Mengimplementasikan optimasi mesin pencari melalui Metadata API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RELEVANSI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Naik Tingkat ke Aplikasi Skala Produksi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6286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dalam alur mata kuliah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628693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konsep dasar pustaka komponen React dikuasai, mahasiswa siap membangun aplikasi web skala produksi siap pakai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mengatasi masalah performa pemuatan awal dan SEO pada aplikasi React satu halaman tradisional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Pemahaman arsitektur komponen server menjadi bekal sebelum menghubungkan front-end dengan API backend modern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14493" y="1207008"/>
            <a:ext cx="3326587" cy="3410712"/>
          </a:xfrm>
          <a:prstGeom prst="roundRect">
            <a:avLst>
              <a:gd name="adj" fmla="val 164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0797" y="1307592"/>
            <a:ext cx="3033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ke Modul Lain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60797" y="1627632"/>
            <a:ext cx="303397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13 dan 14: integrasi dengan Express dan NestJS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15: kontainerisasi aplikasi menggunakan Docker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16: deployment di balik reverse proxy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Teoritis dan Arsitektur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Evolusi metode rendering aplikasi web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Server Components dan Client Components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routing pada App Router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fetching, caching, dan revalidation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METODE RENDERING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Strategi dan Karakteristiknya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kemunculan framework modern, arsitektur web terbagi secara ekstrem antara sepenuhnya klien atau sepenuhnya server.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3986784" cy="1367028"/>
          </a:xfrm>
          <a:prstGeom prst="roundRect">
            <a:avLst>
              <a:gd name="adj" fmla="val 4013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81965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Rendering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" y="2139696"/>
            <a:ext cx="3694176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40"/>
              </a:lnSpc>
              <a:spcAft>
                <a:spcPts val="350"/>
              </a:spcAft>
              <a:buSzPct val="100000"/>
              <a:buChar char="•"/>
            </a:pPr>
            <a:r>
              <a:rPr lang="en-US" sz="8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Peramban menerima HTML kosong beserta berkas JavaScript berukuran besar</a:t>
            </a:r>
            <a:endParaRPr lang="en-US" sz="800" dirty="0"/>
          </a:p>
          <a:p>
            <a:pPr marL="152400" indent="-152400">
              <a:lnSpc>
                <a:spcPts val="1040"/>
              </a:lnSpc>
              <a:spcAft>
                <a:spcPts val="350"/>
              </a:spcAft>
              <a:buSzPct val="100000"/>
              <a:buChar char="•"/>
            </a:pPr>
            <a:r>
              <a:rPr lang="en-US" sz="8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Tree baru terbangun setelah JavaScript diunduh dan dieksekusi</a:t>
            </a:r>
            <a:endParaRPr lang="en-US" sz="800" dirty="0"/>
          </a:p>
          <a:p>
            <a:pPr marL="152400" indent="-152400">
              <a:lnSpc>
                <a:spcPts val="1040"/>
              </a:lnSpc>
              <a:spcAft>
                <a:spcPts val="350"/>
              </a:spcAft>
              <a:buSzPct val="100000"/>
              <a:buChar char="•"/>
            </a:pPr>
            <a:r>
              <a:rPr lang="en-US" sz="8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Pemuatan awal terasa lambat dan buruk bagi mesin pencari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654296" y="1719072"/>
            <a:ext cx="3986784" cy="1367028"/>
          </a:xfrm>
          <a:prstGeom prst="roundRect">
            <a:avLst>
              <a:gd name="adj" fmla="val 4013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81965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Rendering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2139696"/>
            <a:ext cx="3694176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50"/>
              </a:spcAft>
              <a:buSzPct val="100000"/>
              <a:buChar char="•"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diproses di server pada setiap permintaan masuk</a:t>
            </a:r>
            <a:endParaRPr lang="en-US" sz="1000" dirty="0"/>
          </a:p>
          <a:p>
            <a:pPr marL="152400" indent="-152400">
              <a:lnSpc>
                <a:spcPts val="1300"/>
              </a:lnSpc>
              <a:spcAft>
                <a:spcPts val="350"/>
              </a:spcAft>
              <a:buSzPct val="100000"/>
              <a:buChar char="•"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yang dikirim sudah terisi konten penuh</a:t>
            </a:r>
            <a:endParaRPr lang="en-US" sz="1000" dirty="0"/>
          </a:p>
          <a:p>
            <a:pPr marL="152400" indent="-152400">
              <a:lnSpc>
                <a:spcPts val="1300"/>
              </a:lnSpc>
              <a:spcAft>
                <a:spcPts val="350"/>
              </a:spcAft>
              <a:buSzPct val="100000"/>
              <a:buChar char="•"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langsung terlihat instan dan mudah diindeks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250692"/>
            <a:ext cx="3986784" cy="1367028"/>
          </a:xfrm>
          <a:prstGeom prst="roundRect">
            <a:avLst>
              <a:gd name="adj" fmla="val 4013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" y="335127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Site Generation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" y="3671316"/>
            <a:ext cx="3694176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dikompilasi menjadi berkas HTML statis saat proses build berlangsung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cepat dimuat karena disajikan langsung dari jaringan CDN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54296" y="3250692"/>
            <a:ext cx="3986784" cy="1367028"/>
          </a:xfrm>
          <a:prstGeom prst="roundRect">
            <a:avLst>
              <a:gd name="adj" fmla="val 4013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335127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Static Regeneration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0600" y="3671316"/>
            <a:ext cx="3694176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statis diperbarui di latar belakang secara bertahap setelah build selesai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memerlukan pembangunan ulang seluruh situs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ARSITEKTUR KOMPONEN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Components dan Client Components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secara bawaan menetapkan seluruh komponen sebagai React Server Components yang dieksekusi murni di sisi server.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Server Components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dieksekusi di server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JavaScript komponen tidak dikirimkan ke peramban sehingga menghemat lebar pita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mengakses basis data atau API internal secara langsung dan aman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dapat menggunakan state, efek, maupun pendengar event peramban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Components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974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Ditandai dengan direktif use client pada baris pertama berkas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Dieksekusi di server lebih dahulu sebagai pratinjau statis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Kemudian dihidupkan secara interaktif di peramban melalui proses hydration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Diperbolehkan menggunakan Hooks dan event listener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APP ROUTER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Perutean Berbasis Struktur Folder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menggunakan struktur folder di dalam direktori app untuk menentukan rute URL secara otomatis.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45336"/>
          <a:ext cx="81381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120640"/>
              </a:tblGrid>
              <a:tr h="3721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Lokasi berkas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Rute yang dihasilkan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3721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app/page.js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Halaman utama pada rute akar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21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app/about/page.js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Halaman pada rute /about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3721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app/layout.js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Kerangka tata letak global yang membungkus seluruh halaman anak dan tidak dirender ulang saat berpindah halaman di rute yang sama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21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app/blog/[id]/page.js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Rute dinamis, nilai id dibaca sebagai parameter seperti /blog/1 atau /blog/react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folder mewakili satu segmen rute URL sehingga struktur proyek langsung mencerminkan peta navigasi aplikasi.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CACHING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Opsi Perilaku Pengambilan Data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memperluas perilaku fungsi bawaan fetch untuk memberikan opsi penyimpanan singgahan tingkat lanjut di sisi server.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8138160" cy="893064"/>
          </a:xfrm>
          <a:prstGeom prst="roundRect">
            <a:avLst>
              <a:gd name="adj" fmla="val 6143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2028444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20284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14984" y="1719072"/>
            <a:ext cx="2194560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force-cache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64408" y="1719072"/>
            <a:ext cx="5212080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Perilaku bawaan yang menyimpan hasil pengambilan data secara permanen di server, menghasilkan perilaku setara Static Site Generation.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721864"/>
            <a:ext cx="8138160" cy="893064"/>
          </a:xfrm>
          <a:prstGeom prst="roundRect">
            <a:avLst>
              <a:gd name="adj" fmla="val 6143"/>
            </a:avLst>
          </a:prstGeom>
          <a:solidFill>
            <a:srgbClr val="F3F7F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" y="3031236"/>
            <a:ext cx="274320" cy="274320"/>
          </a:xfrm>
          <a:prstGeom prst="ellipse">
            <a:avLst/>
          </a:prstGeom>
          <a:solidFill>
            <a:srgbClr val="D98A1F"/>
          </a:solidFill>
          <a:ln w="6350">
            <a:solidFill>
              <a:srgbClr val="D98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0312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14984" y="2721864"/>
            <a:ext cx="2194560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no-store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64408" y="2721864"/>
            <a:ext cx="5212080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Mengabaikan singgahan dan mengambil data segar dari server pada setiap permintaan, mengaktifkan Server-Side Rendering yang dinamis.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724656"/>
            <a:ext cx="8138160" cy="893064"/>
          </a:xfrm>
          <a:prstGeom prst="roundRect">
            <a:avLst>
              <a:gd name="adj" fmla="val 6143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" y="4034028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" y="40340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4984" y="3724656"/>
            <a:ext cx="2194560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revalidate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64408" y="3724656"/>
            <a:ext cx="5212080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singgahan selama interval detik tertentu. Setelah interval terlampaui, singgahan ditandai kedaluwarsa lalu diperbarui di latar belakang.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Standardisasi dan Best Practices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Mengamankan token API di server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Mengoptimalkan ukuran bundle klien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BEST PRACTICES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Disiplin yang Menjaga Keamanan dan Performa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959483"/>
          </a:xfrm>
          <a:prstGeom prst="roundRect">
            <a:avLst>
              <a:gd name="adj" fmla="val 2800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Amankan token API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1429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pustaka pendeteksi runtime server-only di dalam berkas logika server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modul berisi variabel sensitif tidak sengaja diimpor ke Client Component, proses build akan gagal secara sengaja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Mekanisme ini melindungi token akses dan kunci rahasia agar tidak bocor ke klien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959483"/>
          </a:xfrm>
          <a:prstGeom prst="roundRect">
            <a:avLst>
              <a:gd name="adj" fmla="val 2800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Turunkan batas use client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1429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Letakkan direktif use client serendah mungkin pada pohon hierarki komponen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menandai seluruh halaman sebagai Client Component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Pisahkan hanya bagian interaktifnya, misalnya sebuah tombol, sebagai komponen klien tersendiri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Praktis dan Studi Kasus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mahasiswa berprestasi dengan SSR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Pembahasan baris kode krusial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Komponen Pencarian di Sisi Klien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berkas komponen pada app/components/SearchFilter.js sebagai satu-satunya bagian interaktif halaman.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270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APP/COMPONENTS/SEARCHFILTER.JS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746504"/>
            <a:ext cx="8138160" cy="2871216"/>
          </a:xfrm>
          <a:prstGeom prst="roundRect">
            <a:avLst>
              <a:gd name="adj" fmla="val 1911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819656"/>
            <a:ext cx="791870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 client';   // menandai Client Component yang interaktif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'react';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SearchFilter({ onSearchChange }) {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[query, setQuery] = useState("");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handleChange = (e) =&gt; {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val = e.target.value;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setQuery(val);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onSearchChange(val);   // kirim nilai pencarian ke induk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&lt;div className="mb-4"&gt;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&lt;input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type="text"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className="form-control"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placeholder="Cari mahasiswa berdasarkan nama..."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value={query}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onChange={handleChange}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/&gt;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&lt;/div&gt;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56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Halaman Utama sebagai Server Component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app/page.js merupakan Server Component secara bawaan sehingga dapat mengambil data langsung sebelum HTML dirender.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7190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APP/PAGE.JS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8138160" cy="2679192"/>
          </a:xfrm>
          <a:prstGeom prst="roundRect">
            <a:avLst>
              <a:gd name="adj" fmla="val 2048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2011680"/>
            <a:ext cx="7918704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getStudents() {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no-store memaksa Server-Side Rendering yang dinamis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 = await fetch(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'https://jsonplaceholder.typicode.com/users',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cache: 'no-store' }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(!res.ok) throw new Error('Gagal memuat data mahasiswa dari API.');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data = await res.json();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data.map(user =&gt; ({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id: user.id,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nama: user.name,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email: user.email,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instansi: user.company.name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}));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async function CatalogPage() {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data diambil di server sebelum HTML dirender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students = await getStudents();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&lt;main className="container p-5"&gt;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{students.map((s) =&gt; (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&lt;div key={s.id}&gt;{s.nama} — {s.instansi}&lt;/div&gt;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))}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&lt;/main&gt;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Kerangka Layout Global dan Metadata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4659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APP/LAYOUT.JS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4465930" cy="3191256"/>
          </a:xfrm>
          <a:prstGeom prst="roundRect">
            <a:avLst>
              <a:gd name="adj" fmla="val 171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99616"/>
            <a:ext cx="4246474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metadata = {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'Katalog Mahasiswa Berprestasi',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description: 'Portal resmi data mahasiswa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teknik informatika.',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RootLayout({ children }) {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&lt;html lang="id"&gt;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&lt;head&gt;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&lt;link href="...bootstrap.min.css"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rel="stylesheet" /&gt;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&lt;/head&gt;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&lt;body&gt;{children}&lt;/body&gt;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&lt;/html&gt;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151730" y="1207008"/>
            <a:ext cx="3489350" cy="3410712"/>
          </a:xfrm>
          <a:prstGeom prst="roundRect">
            <a:avLst>
              <a:gd name="adj" fmla="val 160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98034" y="1307592"/>
            <a:ext cx="3196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berkas layout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98034" y="1627632"/>
            <a:ext cx="319674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Membungkus seluruh halaman anak di bawah segmennya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dirender ulang saat pengguna berpindah halaman di rute yang sama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 metadata diekstrak otomatis menjadi tag title dan meta description yang valid secara SEO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PEMBAHASAN KODE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Penjelasan Alur dan Logika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81381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577840"/>
              </a:tblGrid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Baris kode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 dalam program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pada komponen utama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Router mengizinkan komponen utama ditandai asinkronus, sehingga data eksternal dapat dipanggil di tingkat awal komponen sebelum rendering HTML dijalankan di server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cache: 'no-store'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Menginstruksikan runtime untuk selalu memintas singgahan internal dan mengambil data segar pada setiap permintaan yang masuk dari klien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'use client'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Mendefinisikan segmen batas komponen. Segmen di bawahnya akan dikirimi berkas JavaScript interaktif untuk menghidupkan state dan event listener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const metadata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Objek ini otomatis diekstrak Next.js untuk membangun tag title dan meta description pada dokumen HTML hasil render akhir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 dan Tugas Mandiri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konseptual tingkat analisis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praktik pemecahan masalah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PERTANYAAN KONSEPTUAL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Tingkat Tinggi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Komparatif Hydration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apa yang dimaksud dengan proses hydration pada aplikasi Next.js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komponen bertanda use client tetap dieksekusi dan dirender lebih dahulu di sisi server sebelum dikirim ke klien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Keuntungan RSC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berkas JavaScript yang dikirim ke klien menjadi jauh lebih kecil saat arsitektur Server Components dimanfaatkan maksimal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pertukaran antara beban CPU sisi server dan lebar pita jaringan sisi klien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Perilaku Caching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halaman memuat data dengan interval revalidasi tiga ribu enam ratus detik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apa yang terjadi bertahap ketika pengguna mengakses halaman pada jam kedua, dan bagaimana mekanisme stale-while-revalidate bekerja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TUGAS PRAKTIK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Rute Dinamis Detail Artikel Berbasis ISR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163824" cy="3410712"/>
          </a:xfrm>
          <a:prstGeom prst="roundRect">
            <a:avLst>
              <a:gd name="adj" fmla="val 1734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tugas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87121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 sistem portal artikel ilmiah mahasiswa menggunakan App Router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memiliki halaman daftar artikel statis yang diperbarui asinkron setiap enam puluh detik, serta rute dinamis untuk menampilkan artikel lengkap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9624" y="120700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persyaratan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9624" y="1499616"/>
            <a:ext cx="4791456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 struktur folder App Router di direktori proyek Anda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halaman daftar artikel yang mengambil data dari API publik dan menerapkan strategi Incremental Static Regeneration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halaman rute dinamis yang membaca parameter id dari URL, mengambil data spesifik, lalu merendernya secara semantis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Terapkan metadata dinamis agar judul halaman berubah otomatis mengikuti judul artikel yang sedang dibaca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Sediakan navigasi kembali ke halaman utama menggunakan komponen Link yang ramah aksesibilitas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1323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 MODUL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9875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Rangkuman Modul 12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CSR, SSR, SSG, dan ISR menawarkan pertukaran berbeda antara kesegaran data, kecepatan muat, dan keterbacaan mesin pencari.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74036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0340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20340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server tidak mengirim JavaScript ke peramban dan dapat mengakses sumber data internal secara langsung.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91456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folder menentukan rute, sementara berkas layout membungkus halaman anak tanpa dirender ulang.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16268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2572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62572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 force-cache, no-store, dan revalidate menentukan seberapa segar data yang disajikan ke pengguna.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berikutnya: Arsitektur RESTful API dengan Express.js.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Website — Modul 12</dc:title>
  <dc:subject>PptxGenJS Presentation</dc:subject>
  <dc:creator>Departemen Teknik Informatika, Universitas Hasanuddin</dc:creator>
  <cp:lastModifiedBy>Departemen Teknik Informatika, Universitas Hasanuddin</cp:lastModifiedBy>
  <cp:revision>1</cp:revision>
  <dcterms:created xsi:type="dcterms:W3CDTF">2026-08-18T06:07:21Z</dcterms:created>
  <dcterms:modified xsi:type="dcterms:W3CDTF">2026-08-18T06:07:21Z</dcterms:modified>
</cp:coreProperties>
</file>