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5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Sisi Server Menggunakan PHP Modern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transisi dari web statis ke web dinamis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PHP-FPM, fitur PHP 8, state management, dan OOP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PSR dan praktik keamanan pemrosesan formulir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pendaftaran mahasiswa baru berbasis OOP yang aman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konseptual dan tugas sistem manajemen keuangan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bisnis PHP menjembatani antarmuka pengguna dengan sistem penyimpanan data persisten.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5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modul basis data dan JavaScript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siklus eksekusi skrip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interaksi PHP dengan server web dan PHP-FPM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Menelusuri perjalanan permintaan hingga menjadi respons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fitur PHP modern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deklarasi tipe data ketat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Memanfaatkan ekspresi match dan penulisan konstruktor ringkas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state aplikasi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aplikasi dinamis dengan sesi dan kuki secara aman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arsitektur berorientasi objek dengan enkapsulasi, pewarisan, dan polimorfisme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Mengamankan pemrosesan formulir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validasi dan sanitasi input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Mencegah serangan Cross-Site Scripting dan Cross-Site Request Forgery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Transisi dari Web Statis ke Web Dinamis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menandai perpindahan dari pengembangan web statis Modul 1 sampai 4 menuju aplikasi berorientasi server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bisnis PHP menjadi mesin pemroses yang menjembatani antarmuka pengguna dengan sistem penyimpanan data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Pemahaman variabel, session, objek, dan pemrosesan HTTP request menjadi bekal menguasai komunikasi data asinkron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ke Modul Lain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dan 7: penyimpanan data persisten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sampai 11: komunikasi data asinkron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13: perancangan endpoint API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server-side scripting dan PHP-FPM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PHP 8 modern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state melalui session dan cookie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berorientasi objek di PHP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ARSITEKTUR PHP-FPM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Pemrosesan Berkas PHP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web tidak dapat mengeksekusi kode PHP secara langsung, melainkan bertindak sebagai penjaga gerbang menuju mesin penerjemah.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8138160" cy="413309"/>
          </a:xfrm>
          <a:prstGeom prst="roundRect">
            <a:avLst>
              <a:gd name="adj" fmla="val 13274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" y="1788566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7885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14984" y="1719072"/>
            <a:ext cx="219456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64408" y="1719072"/>
            <a:ext cx="521208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Peramban mengirimkan permintaan untuk berkas index.php.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242109"/>
            <a:ext cx="8138160" cy="413309"/>
          </a:xfrm>
          <a:prstGeom prst="roundRect">
            <a:avLst>
              <a:gd name="adj" fmla="val 13274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2311603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231160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14984" y="2242109"/>
            <a:ext cx="219456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dan Parsing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64408" y="2242109"/>
            <a:ext cx="521208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web menerima permintaan, mendeteksi ekstensi berkas PHP, lalu meneruskannya melalui protokol FastCGI ke layanan PHP-FPM.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765146"/>
            <a:ext cx="8138160" cy="413309"/>
          </a:xfrm>
          <a:prstGeom prst="roundRect">
            <a:avLst>
              <a:gd name="adj" fmla="val 13274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" y="2834640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4984" y="2765146"/>
            <a:ext cx="219456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64408" y="2765146"/>
            <a:ext cx="521208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mengompilasi kode PHP menjadi instruksi tingkat rendah berupa opcodes.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288182"/>
            <a:ext cx="8138160" cy="413309"/>
          </a:xfrm>
          <a:prstGeom prst="roundRect">
            <a:avLst>
              <a:gd name="adj" fmla="val 13274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" y="3357677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33576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14984" y="3288182"/>
            <a:ext cx="219456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64408" y="3288182"/>
            <a:ext cx="521208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 Engine mengeksekusi opcodes, berinteraksi dengan basis data bila diperlukan, dan menghasilkan output teks.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811219"/>
            <a:ext cx="8138160" cy="413309"/>
          </a:xfrm>
          <a:prstGeom prst="roundRect">
            <a:avLst>
              <a:gd name="adj" fmla="val 13274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388071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" y="38807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14984" y="3811219"/>
            <a:ext cx="219456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64408" y="3811219"/>
            <a:ext cx="521208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output dikembalikan ke server web melalui soket FastCGI, lalu dikirim ke peramban sebagai badan respons.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PHP-FPM memelihara sekumpulan proses pekerja yang selalu siap mengeksekusi skrip yang masuk.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PARADIGMA PHP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Fitur Modern yang Wajib Dikuasai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739646"/>
          </a:xfrm>
          <a:prstGeom prst="roundRect">
            <a:avLst>
              <a:gd name="adj" fmla="val 315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209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Memaksa PHP menolak konversi tipe data otomatis pada parameter dan nilai kembalian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yang meminta integer namun diberi string akan langsung melempar TypeError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739646"/>
          </a:xfrm>
          <a:prstGeom prst="roundRect">
            <a:avLst>
              <a:gd name="adj" fmla="val 3154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Promotion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209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 kelas dideklarasikan dan diinisialisasi langsung di parameter konstruktor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Menghilangkan penulisan ulang properti dan penugasan manual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739646"/>
          </a:xfrm>
          <a:prstGeom prst="roundRect">
            <a:avLst>
              <a:gd name="adj" fmla="val 315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Expression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209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modern bagi struktur switch case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Mengembalikan nilai, membandingkan secara ketat, dan tidak memerlukan pernyataan break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telah bertransformasi dari bahasa skrip dinamis tanpa tipe menjadi bahasa modern yang mendukung pengetikan ketat.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STATE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 dan Cookies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bersifat stateless, sehingga sistem seperti login pengguna menuntut adanya mekanisme pengelolaan keadaan.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27048"/>
            <a:ext cx="3977640" cy="3090672"/>
          </a:xfrm>
          <a:prstGeom prst="roundRect">
            <a:avLst>
              <a:gd name="adj" fmla="val 1775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2763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1947672"/>
            <a:ext cx="36850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teks kecil yang disimpan langsung di peramban klien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Dikirim kembali ke server secara otomatis melalui header HTTP pada setiap permintaan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 dimanipulasi pengguna karena tersimpan di sisi klien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boleh menyimpan data sensitif kecuali dienkripsi dengan aman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527048"/>
            <a:ext cx="3977640" cy="3090672"/>
          </a:xfrm>
          <a:prstGeom prst="roundRect">
            <a:avLst>
              <a:gd name="adj" fmla="val 1775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2763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1947672"/>
            <a:ext cx="36850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disimpan secara aman di memori server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membuat ID sesi unik acak yang disimpan pada kuki peramban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mencocokkan ID tersebut dengan berkas sesi untuk mengambil variabel pengguna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OOP DI PHP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Pilar Perancangan Kelas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39776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adalah cetakan biru sebuah entitas, sedangkan object adalah perwujudan nyatanya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membuat kelas baru yang mewarisi sifat dan metode kelas induk melalui kata kunci extends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memungkinkan kelas turunan menimpa perilaku metode induk agar sesuai karakteristik spesifiknya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Enkapsulasi melalui access modifier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499616"/>
            <a:ext cx="1670609" cy="816864"/>
          </a:xfrm>
          <a:prstGeom prst="roundRect">
            <a:avLst>
              <a:gd name="adj" fmla="val 559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8304" y="1499616"/>
            <a:ext cx="1560881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62065" y="1499616"/>
            <a:ext cx="2179015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diakses dari mana saja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663440" y="2407920"/>
            <a:ext cx="1670609" cy="816864"/>
          </a:xfrm>
          <a:prstGeom prst="roundRect">
            <a:avLst>
              <a:gd name="adj" fmla="val 559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2407920"/>
            <a:ext cx="1560881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62065" y="2407920"/>
            <a:ext cx="2179015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dapat diakses dari dalam kelas itu sendiri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663440" y="3316224"/>
            <a:ext cx="1670609" cy="816864"/>
          </a:xfrm>
          <a:prstGeom prst="roundRect">
            <a:avLst>
              <a:gd name="adj" fmla="val 559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3316224"/>
            <a:ext cx="1560881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62065" y="3316224"/>
            <a:ext cx="2179015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diakses dari kelas itu sendiri dan kelas turunannya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skala industri modern wajib menerapkan OOP demi kemudahan pemeliharaan kode dalam jangka panjang.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Standards Recommendations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keamanan pemrosesan formulir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STANDAR PSR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Menjaga Interoperabilitas Kode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Komunitas PHP internasional melalui PHP-FIG menetapkan standar PSR agar kode antar pustaka tetap dapat saling bekerja sama.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PSR-1 Basic Coding Standard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Menetapkan penggunaan tag PHP panjang saja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kelas ditulis dengan format PascalCase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metode ditulis dengan format camelCase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PSR-12 Extended Coding Style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penggunaan spasi secara mendetail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Indentasi menggunakan empat spasi, bukan tab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Kurung kurawal pembuka diletakkan di baris baru untuk kelas dan metode, serta sebaris untuk struktur kontrol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KEAMANAN FORMULIR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Lapis Pertahanan Wajib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Memastikan data masuk memiliki format yang benar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memvalidasi format email atau memastikan nilai angka berada dalam rentang tertentu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Sanitasi Output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terjadi saat skrip berbahaya dari formulir dirender mentah oleh peramban pengguna lain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Dicegah dengan menerapkan htmlspecialchars pada setiap variabel dinamis sebelum dicetak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Proteksi CSRF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Serangan memaksa peramban pengguna terautentikasi mengirim permintaan berbahaya tanpa sepengetahuannya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Dicegah dengan token acak kriptografis sekali pakai yang disimpan di sesi dan diverifikasi saat POST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pendaftaran mahasiswa baru berbasis OOP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baris kode krusial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Kelas Student dengan Constructor Promotion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Student.php di direktori proyek Anda sebagai cetakan entitas mahasiswa.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STUDENT.PHP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declare(strict_types=1);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 {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Constructor Property Promotion (PHP 8.x)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private string $nim,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private string $name,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private string $email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{}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getNim(): string  { return $this-&gt;nim; }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getName(): string { return $this-&gt;name; }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saveToSession(): bool {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(session_status() === PHP_SESSION_NONE) {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session_start();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$_SESSION['registered_students'][] = [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'nim'   =&gt; $this-&gt;nim,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'name'  =&gt; $this-&gt;name,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'email' =&gt; $this-&gt;email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3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Pemroses Formulir dan Proteksi CSRF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register.php yang membangkitkan token, memverifikasinya, lalu memvalidasi seluruh masukan.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REGISTER.PHP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declare(strict_types=1);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require_once './Student.php';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session_start();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Bangkitkan CSRF token bila belum ada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(empty($_SESSION['csrf_token'])) {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$_SESSION['csrf_token'] = bin2hex(random_bytes(32));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($_SERVER['REQUEST_METHOD'] === 'POST') {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$postToken = $_POST['csrf_token'] ?? '';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(!hash_equals($_SESSION['csrf_token'], $postToken)) {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die('Kesalahan Keamanan: Token CSRF tidak cocok.');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$nim   = trim($_POST['nim'] ?? '');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$email = trim($_POST['email'] ?? '');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(!preg_match('/^[0-9]{10}$/', $nim)) {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$errors[] = 'NIM harus angka sepanjang tepat 10 digit.';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(!filter_var($email, FILTER_VALIDATE_EMAIL)) {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$errors[] = 'Format alamat email tidak valid.';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3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Merender Keluaran Secara Aman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384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TAMPILAN REGISTER.PHP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4384548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416509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type="hidden" name="csrf_token"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value="&lt;?= htmlspecialchars($_SESSION['csrf_token']) ?&gt;"&gt;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foreach ($_SESSION['registered_students'] as $s): ?&gt;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 class="list-group-item"&gt;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&lt;strong&gt;&lt;?= htmlspecialchars($s['nim']) ?&gt;&lt;/strong&gt; -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&lt;?= htmlspecialchars($s['name']) ?&gt;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(&lt;em&gt;&lt;?= htmlspecialchars($s['email']) ?&gt;&lt;/em&gt;)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&lt;/li&gt;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endforeach; ?&gt;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70348" y="1207008"/>
            <a:ext cx="3570732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6652" y="1307592"/>
            <a:ext cx="3278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setiap keluaran disanitasi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6652" y="1627632"/>
            <a:ext cx="32781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berasal dari pengguna tidak pernah boleh dipercaya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Sanitasi diterapkan pada titik pencetakan, bukan hanya saat penyimpanan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CSRF diregenerasi setelah pendaftaran berhasil sebagai lapisan keamanan tambahan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PEMBAHASAN KODE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Alur dan Logika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486400"/>
              </a:tblGrid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kode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dalam program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declare(strict_types=1)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Mengaktifkan mode tipe ketat sehingga program berhenti dan melaporkan kesalahan sebelum sempat memproses data secara salah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 promotion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Kata kunci visibilitas pada parameter membuat Zend Engine mendeklarasikan properti sekaligus menyalin nilai saat instansiasi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hash_equals()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Membandingkan dua token menggunakan algoritma waktu konstan sehingga mencegah serangan pemetaan waktu eksekusi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htmlspecialchars()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Mengubah karakter khusus menjadi entitas aman sehingga tag skrip berbahaya hanya dirender sebagai teks biasa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2275713"/>
          </a:xfrm>
          <a:prstGeom prst="roundRect">
            <a:avLst>
              <a:gd name="adj" fmla="val 241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Protokol PHP-FPM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745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peran server web dan PHP-FPM saat memproses berkas statis dibanding kode PHP murni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pemisahan server web dan interpreter dinilai lebih skalabel dibanding memuat modul interpreter di dalam server web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2275713"/>
          </a:xfrm>
          <a:prstGeom prst="roundRect">
            <a:avLst>
              <a:gd name="adj" fmla="val 241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Keamanan CSRF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745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Uraikan alur eksploitasi pada formulir ubah kata sandi yang tidak memakai token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pengecekan kuki saja tidak mampu melindungi server dari serangan tersebut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2275713"/>
          </a:xfrm>
          <a:prstGeom prst="roundRect">
            <a:avLst>
              <a:gd name="adj" fmla="val 241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Enkapsulasi OOP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745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properti private yang dilengkapi getter dinilai lebih aman daripada properti public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Kaitkan jawaban Anda dengan konsep jaminan integritas data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Manajemen Keuangan Sederhana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163824" cy="3410712"/>
          </a:xfrm>
          <a:prstGeom prst="roundRect">
            <a:avLst>
              <a:gd name="adj" fmla="val 173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8712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prototipe modul pemrosesan transaksi keuangan berupa deposit dan penarikan berbasis web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wajib menerapkan tipe data ketat, arsitektur OOP terenkapsulasi, validasi formulir, serta pertahanan XSS dan CSRF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9624" y="120700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9624" y="1499616"/>
            <a:ext cx="479145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kelas Transaction dengan properti private id, type, dan amount menggunakan constructor property promotion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Sediakan metode process yang menolak penarikan bila saldo dalam sesi tidak mencukupi, dan menambah saldo pada deposit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finance.php yang menghubungkan kelas Transaction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Lindungi formulir dengan validasi token CSRF yang disimpan di sesi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jumlah transaksi sebagai angka desimal positif dan gunakan ekspresi match untuk mencocokkan jenis transaksi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riwayat transaksi dan sisa saldo secara aman menggunakan htmlspecialchars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5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web meneruskan berkas PHP ke PHP-FPM, yang mengompilasi ke opcodes lalu mengeksekusinya di Zend Engine.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Modern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types, constructor promotion, dan match expression membuat kode lebih ringkas serta aman secara tipe.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tersimpan di klien dan mudah dimanipulasi, sedangkan session tersimpan aman di sisi server.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input, sanitasi output, dan token CSRF menjadi tiga lapis pertahanan pemrosesan formulir.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Pemodelan Data dan Konsep Basis Data Relasional.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5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2026-08-18T05:56:29Z</dcterms:created>
  <dcterms:modified xsi:type="dcterms:W3CDTF">2026-08-18T05:56:29Z</dcterms:modified>
</cp:coreProperties>
</file>