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87952" y="566928"/>
            <a:ext cx="768096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1664208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MATA KULIAH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731520" y="1938528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Pemrograman Website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822960" y="2542032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4F1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 10</a:t>
            </a:r>
            <a:endParaRPr lang="en-US" sz="15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4F1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Pemrograman Browser Lanjut, Penanganan Loop, dan Kontrol Transisi CSS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31520" y="3950208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D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Departemen Teknik Informatika, Fakultas Teknik</a:t>
            </a:r>
            <a:endParaRPr lang="en-US" sz="11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D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Universitas Hasanuddin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 MATERI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Alur Pembahasan Modul 10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1495958" cy="3017520"/>
          </a:xfrm>
          <a:prstGeom prst="roundRect">
            <a:avLst>
              <a:gd name="adj" fmla="val 3667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298448"/>
            <a:ext cx="12033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A5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49224" y="1645920"/>
            <a:ext cx="120335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Pendahuluan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9224" y="2066544"/>
            <a:ext cx="120335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Capaian pembelajaran dan fokus pada optimasi performa rendering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163470" y="1207008"/>
            <a:ext cx="1495958" cy="3017520"/>
          </a:xfrm>
          <a:prstGeom prst="roundRect">
            <a:avLst>
              <a:gd name="adj" fmla="val 3667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09774" y="1298448"/>
            <a:ext cx="12033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8A5A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2309774" y="1645920"/>
            <a:ext cx="120335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Konsep Teoritis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309774" y="2066544"/>
            <a:ext cx="120335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Object Model, reflow dan repaint, DocumentFragment, serta kontrol gaya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824021" y="1207008"/>
            <a:ext cx="1495958" cy="3017520"/>
          </a:xfrm>
          <a:prstGeom prst="roundRect">
            <a:avLst>
              <a:gd name="adj" fmla="val 3667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70325" y="1298448"/>
            <a:ext cx="12033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A5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3970325" y="1645920"/>
            <a:ext cx="120335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Standardisasi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970325" y="2066544"/>
            <a:ext cx="120335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Mengurangi layout thrashing dan mengamankan pengalihan URL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4571" y="1207008"/>
            <a:ext cx="1495958" cy="3017520"/>
          </a:xfrm>
          <a:prstGeom prst="roundRect">
            <a:avLst>
              <a:gd name="adj" fmla="val 3667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30875" y="1298448"/>
            <a:ext cx="12033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8A5A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5630875" y="1645920"/>
            <a:ext cx="120335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630875" y="2066544"/>
            <a:ext cx="120335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 nilai dengan filter, paginasi hash, dan tema gelap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145122" y="1207008"/>
            <a:ext cx="1495958" cy="3017520"/>
          </a:xfrm>
          <a:prstGeom prst="roundRect">
            <a:avLst>
              <a:gd name="adj" fmla="val 3667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91426" y="1298448"/>
            <a:ext cx="12033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A5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7291426" y="1645920"/>
            <a:ext cx="120335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Evaluasi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291426" y="2066544"/>
            <a:ext cx="120335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pipeline rendering dan tugas galeri gambar interaktif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02920" y="4370832"/>
            <a:ext cx="8138160" cy="329184"/>
          </a:xfrm>
          <a:prstGeom prst="roundRect">
            <a:avLst>
              <a:gd name="adj" fmla="val 13889"/>
            </a:avLst>
          </a:prstGeom>
          <a:solidFill>
            <a:srgbClr val="F3F7FA"/>
          </a:solidFill>
          <a:ln w="12700">
            <a:solidFill>
              <a:srgbClr val="F3F7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" y="4370832"/>
            <a:ext cx="7845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ini menjadi bekal penutup sebelum melangkah ke render grafis Canvas dan abstraksi Virtual DOM.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2377440" y="150876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Pendahuluan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2377440" y="2432304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Capaian pembelajaran Modul 10</a:t>
            </a:r>
            <a:endParaRPr lang="en-US" sz="1200" dirty="0"/>
          </a:p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Relevansi terhadap Canvas dan framework berbasis komponen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CAPAIAN PEMBELAJARAN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Kemampuan Akhir yang Diharapkan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3986784" cy="1203579"/>
          </a:xfrm>
          <a:prstGeom prst="roundRect">
            <a:avLst>
              <a:gd name="adj" fmla="val 4558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307592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Mengoperasikan antarmuka BOM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9224" y="1627632"/>
            <a:ext cx="3694176" cy="673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Memanipulasi objek global window, location, history, dan navigator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Menggunakan seluruh antarmuka tersebut secara aman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54296" y="1207008"/>
            <a:ext cx="3986784" cy="1203579"/>
          </a:xfrm>
          <a:prstGeom prst="roundRect">
            <a:avLst>
              <a:gd name="adj" fmla="val 4558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0" y="1307592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Menganalisis dampak kinerja rendering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800600" y="1627632"/>
            <a:ext cx="3694176" cy="673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Membedakan konsep reflow dan repaint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Mencegah terjadinya bahaya layout thrashing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575179"/>
            <a:ext cx="3986784" cy="1203579"/>
          </a:xfrm>
          <a:prstGeom prst="roundRect">
            <a:avLst>
              <a:gd name="adj" fmla="val 4558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" y="2675763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Mengoptimalkan iterasi data besar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9224" y="2995803"/>
            <a:ext cx="3694176" cy="673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Menggunakan objek DocumentFragment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Mengurangi beban manipulasi DOM aktif secara signifikan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54296" y="2575179"/>
            <a:ext cx="3986784" cy="1203579"/>
          </a:xfrm>
          <a:prstGeom prst="roundRect">
            <a:avLst>
              <a:gd name="adj" fmla="val 4558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2675763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Mengendalikan transisi gaya dinamis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00600" y="2995803"/>
            <a:ext cx="3694176" cy="673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Memodifikasi kelas CSS melalui API classList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Membangun komponen interaktif berfitur penyaringan, paginasi, dan tema gelap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RELEVANSI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Ketika Data Bertambah Besar dan Kompleks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462869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Posisi dalam alur mata kuliah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1499616"/>
            <a:ext cx="4628693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ini memperdalam manipulasi antarmuka sisi klien dengan fokus khusus pada optimasi performa rendering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Iterasi manipulasi DOM yang tidak efisien membuat tampilan terasa lambat ketika data aplikasi membesar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Pengetahuan optimasi rendering menjadi bekal penutup sebelum masuk ke render grafis tingkat tinggi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314493" y="1207008"/>
            <a:ext cx="3326587" cy="3410712"/>
          </a:xfrm>
          <a:prstGeom prst="roundRect">
            <a:avLst>
              <a:gd name="adj" fmla="val 1649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60797" y="1307592"/>
            <a:ext cx="30339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Dampak ke Modul Lain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60797" y="1627632"/>
            <a:ext cx="3033979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11: render grafis Canvas dan abstraksi Virtual DOM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12: optimasi rendering pada framework modern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2377440" y="150876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Konsep Teoritis dan Arsitektur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2377440" y="2432304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Arsitektur Browser Object Model</a:t>
            </a:r>
            <a:endParaRPr lang="en-US" sz="1200" dirty="0"/>
          </a:p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Reflow, repaint, dan layout thrashing</a:t>
            </a:r>
            <a:endParaRPr lang="en-US" sz="1200" dirty="0"/>
          </a:p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Optimalisasi loop dengan DocumentFragment</a:t>
            </a:r>
            <a:endParaRPr lang="en-US" sz="1200" dirty="0"/>
          </a:p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Kontrol CSS dinamis melalui JavaScript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BROWSER OBJECT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Berinteraksi di Luar Dokumen Halaman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348935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Karakteristik BOM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1499616"/>
            <a:ext cx="3489350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Konvensi objek pemrograman yang disediakan peramban untuk berinteraksi dengan lingkungan di luar dokumen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Berbeda dengan DOM, BOM tidak memiliki standar formal mutlak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Meski demikian perilakunya seragam di berbagai peramban modern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75150" y="1207008"/>
            <a:ext cx="446593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Hierarki objek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175150" y="1499616"/>
            <a:ext cx="1875690" cy="532181"/>
          </a:xfrm>
          <a:prstGeom prst="roundRect">
            <a:avLst>
              <a:gd name="adj" fmla="val 8591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30014" y="1499616"/>
            <a:ext cx="1765962" cy="532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178857" y="1499616"/>
            <a:ext cx="2462223" cy="532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2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Objek global utama dan puncak hierarki; seluruh objek BOM dan DOM berada di bawahnya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4175150" y="2123237"/>
            <a:ext cx="1875690" cy="532181"/>
          </a:xfrm>
          <a:prstGeom prst="roundRect">
            <a:avLst>
              <a:gd name="adj" fmla="val 8591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30014" y="2123237"/>
            <a:ext cx="1765962" cy="532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navigator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178857" y="2123237"/>
            <a:ext cx="2462223" cy="532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2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Informasi perangkat lunak peramban, sistem operasi, status koneksi, dan geolokasi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4175150" y="2746858"/>
            <a:ext cx="1875690" cy="532181"/>
          </a:xfrm>
          <a:prstGeom prst="roundRect">
            <a:avLst>
              <a:gd name="adj" fmla="val 8591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30014" y="2746858"/>
            <a:ext cx="1765962" cy="532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178857" y="2746858"/>
            <a:ext cx="2462223" cy="532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2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 fisik layar monitor: lebar, tinggi, dan kedalaman warna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4175150" y="3370478"/>
            <a:ext cx="1875690" cy="532181"/>
          </a:xfrm>
          <a:prstGeom prst="roundRect">
            <a:avLst>
              <a:gd name="adj" fmla="val 8591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30014" y="3370478"/>
            <a:ext cx="1765962" cy="532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178857" y="3370478"/>
            <a:ext cx="2462223" cy="532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2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Riwayat penjelajahan tab aktif untuk navigasi maju mundur secara programatik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4175150" y="3994099"/>
            <a:ext cx="1875690" cy="532181"/>
          </a:xfrm>
          <a:prstGeom prst="roundRect">
            <a:avLst>
              <a:gd name="adj" fmla="val 8591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30014" y="3994099"/>
            <a:ext cx="1765962" cy="532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178857" y="3994099"/>
            <a:ext cx="2462223" cy="532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2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Membaca dan memanipulasi URL halaman, termasuk hash dan parameter kueri</a:t>
            </a:r>
            <a:endParaRPr lang="en-US" sz="9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PERFORMA RENDERING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Reflow dan Repaint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 JavaScript memanipulasi elemen, peramban harus menghitung ulang tata letak dan menggambar kembali piksel. Proses ini mahal secara komputasi.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719072"/>
            <a:ext cx="3977640" cy="2898648"/>
          </a:xfrm>
          <a:prstGeom prst="roundRect">
            <a:avLst>
              <a:gd name="adj" fmla="val 1893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" y="1819656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Reflow (Layouting)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9224" y="2139696"/>
            <a:ext cx="3685032" cy="236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Peramban menghitung ulang geometri elemen, meliputi posisi, lebar, dan tinggi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Reflow pada satu elemen dapat memicu reflow berantai pada elemen induk dan sekitarnya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Dipicu oleh perubahan width, height, margin, padding, border, posisi, ukuran font, atau penambahan elemen ke DOM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63440" y="1719072"/>
            <a:ext cx="3977640" cy="2898648"/>
          </a:xfrm>
          <a:prstGeom prst="roundRect">
            <a:avLst>
              <a:gd name="adj" fmla="val 1893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9744" y="1819656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Repaint (Painting)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09744" y="2139696"/>
            <a:ext cx="3685032" cy="236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Menggambar ulang elemen pada piksel layar setelah geometri dihitung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Lebih ringan daripada reflow, namun tetap memengaruhi performa bila dipicu terlalu sering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Dipicu oleh perubahan warna latar, warna teks, visibilitas, atau bayangan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LAYOUT THRASHING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Jebakan Baca Tulis dalam Perulangan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43845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Bagaimana terjadinya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1499616"/>
            <a:ext cx="4384548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melakukan operasi penulisan DOM yang memicu reflow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Operasi itu langsung diikuti pembacaan nilai geometris seperti offsetHeight atau getBoundingClientRect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Keduanya dilakukan bergantian di dalam sebuah perulangan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Peramban dipaksa menghitung ulang tata letak pada setiap iterasi sehingga frame rate turun drastis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70348" y="1207008"/>
            <a:ext cx="3570732" cy="3410712"/>
          </a:xfrm>
          <a:prstGeom prst="roundRect">
            <a:avLst>
              <a:gd name="adj" fmla="val 1609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6652" y="1307592"/>
            <a:ext cx="32781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 menghindarinya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216652" y="1627632"/>
            <a:ext cx="3278124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Pisahkan fase pembacaan DOM dan penulisan DOM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Baca seluruh nilai geometris lebih dahulu di awal fungsi dan simpan ke variabel lokal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Lakukan modifikasi elemen secara massal di akhir fungsi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 DOCUMENTFRAGMENT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Pola Iterasi yang Tidak Efisien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Menampilkan seribu data mahasiswa dengan menyisipkan elemen satu per satu ke DOM aktif memicu seribu kali reflow.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1719072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 KODE YANG HARUS DIHINDARI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1938528"/>
            <a:ext cx="8138160" cy="2286000"/>
          </a:xfrm>
          <a:prstGeom prst="roundRect">
            <a:avLst>
              <a:gd name="adj" fmla="val 2400"/>
            </a:avLst>
          </a:prstGeom>
          <a:solidFill>
            <a:srgbClr val="11253C"/>
          </a:solidFill>
          <a:ln w="12700">
            <a:solidFill>
              <a:srgbClr val="1125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2011680"/>
            <a:ext cx="7918704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Memicu 1.000 kali reflow aktif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students.forEach(s =&gt; {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tr = document.createElement("tr");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... isi sel td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tableBody.appendChild(tr);  // manipulasi DOM aktif berulang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4370832"/>
            <a:ext cx="8138160" cy="329184"/>
          </a:xfrm>
          <a:prstGeom prst="roundRect">
            <a:avLst>
              <a:gd name="adj" fmla="val 13889"/>
            </a:avLst>
          </a:prstGeom>
          <a:solidFill>
            <a:srgbClr val="F3F7FA"/>
          </a:solidFill>
          <a:ln w="12700">
            <a:solidFill>
              <a:srgbClr val="F3F7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" y="4370832"/>
            <a:ext cx="7845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DocumentFragment adalah simpul dokumen tiruan yang ringan dan tidak terhubung ke DOM Tree aktif.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 DOCUMENTFRAGMENT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Pola Batching yang Benar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8138160" cy="1063752"/>
          </a:xfrm>
          <a:prstGeom prst="roundRect">
            <a:avLst>
              <a:gd name="adj" fmla="val 5158"/>
            </a:avLst>
          </a:prstGeom>
          <a:solidFill>
            <a:srgbClr val="E8EFF6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30936" y="1601724"/>
            <a:ext cx="274320" cy="274320"/>
          </a:xfrm>
          <a:prstGeom prst="ellipse">
            <a:avLst/>
          </a:prstGeom>
          <a:solidFill>
            <a:srgbClr val="0E7C86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0936" y="16017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14984" y="1207008"/>
            <a:ext cx="2194560" cy="1063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fragment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264408" y="1207008"/>
            <a:ext cx="5212080" cy="1063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Panggil document.createDocumentFragment untuk menyiapkan kontainer memori sementara yang tidak terikat DOM aktif.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2380488"/>
            <a:ext cx="8138160" cy="1063752"/>
          </a:xfrm>
          <a:prstGeom prst="roundRect">
            <a:avLst>
              <a:gd name="adj" fmla="val 5158"/>
            </a:avLst>
          </a:prstGeom>
          <a:solidFill>
            <a:srgbClr val="F3F7F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" y="2775204"/>
            <a:ext cx="274320" cy="274320"/>
          </a:xfrm>
          <a:prstGeom prst="ellipse">
            <a:avLst/>
          </a:prstGeom>
          <a:solidFill>
            <a:srgbClr val="D98A1F"/>
          </a:solidFill>
          <a:ln w="6350">
            <a:solidFill>
              <a:srgbClr val="D98A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" y="27752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14984" y="2380488"/>
            <a:ext cx="2194560" cy="1063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 di dalam memori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264408" y="2380488"/>
            <a:ext cx="5212080" cy="1063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Sepanjang perulangan berjalan, seluruh elemen digantungkan pada fragment. Karena fragment berada di luar DOM Tree aktif, tidak ada reflow maupun repaint yang terpicu.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3553968"/>
            <a:ext cx="8138160" cy="1063752"/>
          </a:xfrm>
          <a:prstGeom prst="roundRect">
            <a:avLst>
              <a:gd name="adj" fmla="val 5158"/>
            </a:avLst>
          </a:prstGeom>
          <a:solidFill>
            <a:srgbClr val="E8EFF6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" y="3948684"/>
            <a:ext cx="274320" cy="274320"/>
          </a:xfrm>
          <a:prstGeom prst="ellipse">
            <a:avLst/>
          </a:prstGeom>
          <a:solidFill>
            <a:srgbClr val="0E7C86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" y="39486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14984" y="3553968"/>
            <a:ext cx="2194560" cy="1063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Sisipkan satu kali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264408" y="3553968"/>
            <a:ext cx="5212080" cy="1063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Setelah perulangan selesai, fragment disisipkan sekali saja ke DOM aktif sehingga peramban hanya melakukan satu kali proses reflow dan repaint.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 KONTROL CSS DINAMIS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 Cara Memanipulasi Gaya Visual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3977640" cy="3017520"/>
          </a:xfrm>
          <a:prstGeom prst="roundRect">
            <a:avLst>
              <a:gd name="adj" fmla="val 1818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307592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Styles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9224" y="1627632"/>
            <a:ext cx="3685032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Mengubah nilai properti secara spesifik di tingkat atribut inline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Memberikan spesifisitas tertinggi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Menyulitkan pemeliharaan gaya visual yang bersih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Cocok untuk nilai yang benar-benar dihitung saat runtime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63440" y="1207008"/>
            <a:ext cx="3977640" cy="3017520"/>
          </a:xfrm>
          <a:prstGeom prst="roundRect">
            <a:avLst>
              <a:gd name="adj" fmla="val 1818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9744" y="1307592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classList (direkomendasikan)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09744" y="1627632"/>
            <a:ext cx="3685032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menambahkan kelas baru bila belum ada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menghapus kelas tertentu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menghapus kelas bila sudah ada atau menambahkannya bila belum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 mengembalikan nilai boolean keberadaan kelas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4370832"/>
            <a:ext cx="8138160" cy="329184"/>
          </a:xfrm>
          <a:prstGeom prst="roundRect">
            <a:avLst>
              <a:gd name="adj" fmla="val 13889"/>
            </a:avLst>
          </a:prstGeom>
          <a:solidFill>
            <a:srgbClr val="F3F7FA"/>
          </a:solidFill>
          <a:ln w="12700">
            <a:solidFill>
              <a:srgbClr val="F3F7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" y="4370832"/>
            <a:ext cx="7845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Dengan classList, definisi gaya tetap tersimpan rapi di berkas stylesheet dan JavaScript hanya mengatur status kelasnya.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2377440" y="150876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Standardisasi dan Best Practices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2377440" y="2432304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Mengurangi layout thrashing</a:t>
            </a:r>
            <a:endParaRPr lang="en-US" sz="1200" dirty="0"/>
          </a:p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Mencegah celah pengalihan URL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BEST PRACTICES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 Disiplin Penting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3986784" cy="1780794"/>
          </a:xfrm>
          <a:prstGeom prst="roundRect">
            <a:avLst>
              <a:gd name="adj" fmla="val 3081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307592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Pisahkan baca dan tulis DOM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9224" y="1627632"/>
            <a:ext cx="3694176" cy="125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Lakukan pembacaan nilai geometris terlebih dahulu di awal fungsi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Simpan hasilnya ke dalam variabel lokal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Baru kemudian lakukan penulisan dan modifikasi elemen secara massal di akhir fungsi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54296" y="1207008"/>
            <a:ext cx="3986784" cy="1780794"/>
          </a:xfrm>
          <a:prstGeom prst="roundRect">
            <a:avLst>
              <a:gd name="adj" fmla="val 3081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0" y="1307592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Validasi pengalihan URL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00600" y="1627632"/>
            <a:ext cx="3694176" cy="125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Selalu validasi secara ketat saat memanipulasi properti location berdasarkan masukan pengguna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Jangan pernah mengarahkan peramban memakai URL mentah dari parameter tanpa memverifikasi domainnya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ini melindungi pengguna dari pengalihan berbahaya ke situs phishing eksternal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2377440" y="150876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Implementasi Praktis dan Studi Kasus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377440" y="2432304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Dasbor nilai mahasiswa dengan filter, paginasi, dan tema gelap</a:t>
            </a:r>
            <a:endParaRPr lang="en-US" sz="1200" dirty="0"/>
          </a:p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Pembahasan baris kode krusial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 STUDI KASUS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 Tema Berbasis CSS Variables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berkas advanced-browser.html, lalu definisikan variabel warna yang akan ditimpa oleh kelas modifikasi tema gelap.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1719072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ADVANCED-BROWSER.HTML — BAGIAN STYLE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1938528"/>
            <a:ext cx="8138160" cy="2679192"/>
          </a:xfrm>
          <a:prstGeom prst="roundRect">
            <a:avLst>
              <a:gd name="adj" fmla="val 2048"/>
            </a:avLst>
          </a:prstGeom>
          <a:solidFill>
            <a:srgbClr val="11253C"/>
          </a:solidFill>
          <a:ln w="12700">
            <a:solidFill>
              <a:srgbClr val="1125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2011680"/>
            <a:ext cx="7918704" cy="253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42"/>
              </a:lnSpc>
              <a:buNone/>
            </a:pPr>
            <a:r>
              <a:rPr lang="en-US" sz="802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:root {</a:t>
            </a:r>
            <a:endParaRPr lang="en-US" sz="802" dirty="0"/>
          </a:p>
          <a:p>
            <a:pPr indent="0" marL="0">
              <a:lnSpc>
                <a:spcPts val="1042"/>
              </a:lnSpc>
              <a:buNone/>
            </a:pPr>
            <a:r>
              <a:rPr lang="en-US" sz="802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--bg-color: #f8f9fa;</a:t>
            </a:r>
            <a:endParaRPr lang="en-US" sz="802" dirty="0"/>
          </a:p>
          <a:p>
            <a:pPr indent="0" marL="0">
              <a:lnSpc>
                <a:spcPts val="1042"/>
              </a:lnSpc>
              <a:buNone/>
            </a:pPr>
            <a:r>
              <a:rPr lang="en-US" sz="802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--card-bg: #ffffff;</a:t>
            </a:r>
            <a:endParaRPr lang="en-US" sz="802" dirty="0"/>
          </a:p>
          <a:p>
            <a:pPr indent="0" marL="0">
              <a:lnSpc>
                <a:spcPts val="1042"/>
              </a:lnSpc>
              <a:buNone/>
            </a:pPr>
            <a:r>
              <a:rPr lang="en-US" sz="802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--text-color: #212529;</a:t>
            </a:r>
            <a:endParaRPr lang="en-US" sz="802" dirty="0"/>
          </a:p>
          <a:p>
            <a:pPr indent="0" marL="0">
              <a:lnSpc>
                <a:spcPts val="1042"/>
              </a:lnSpc>
              <a:buNone/>
            </a:pPr>
            <a:r>
              <a:rPr lang="en-US" sz="802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--transition-speed: 0.4s;</a:t>
            </a:r>
            <a:endParaRPr lang="en-US" sz="802" dirty="0"/>
          </a:p>
          <a:p>
            <a:pPr indent="0" marL="0">
              <a:lnSpc>
                <a:spcPts val="1042"/>
              </a:lnSpc>
              <a:buNone/>
            </a:pPr>
            <a:r>
              <a:rPr lang="en-US" sz="802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2" dirty="0"/>
          </a:p>
          <a:p>
            <a:pPr indent="0" marL="0">
              <a:lnSpc>
                <a:spcPts val="1042"/>
              </a:lnSpc>
              <a:buNone/>
            </a:pPr>
            <a:r>
              <a:rPr lang="en-US" sz="802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2" dirty="0"/>
          </a:p>
          <a:p>
            <a:pPr indent="0" marL="0">
              <a:lnSpc>
                <a:spcPts val="1042"/>
              </a:lnSpc>
              <a:buNone/>
            </a:pPr>
            <a:r>
              <a:rPr lang="en-US" sz="802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body.dark-theme {</a:t>
            </a:r>
            <a:endParaRPr lang="en-US" sz="802" dirty="0"/>
          </a:p>
          <a:p>
            <a:pPr indent="0" marL="0">
              <a:lnSpc>
                <a:spcPts val="1042"/>
              </a:lnSpc>
              <a:buNone/>
            </a:pPr>
            <a:r>
              <a:rPr lang="en-US" sz="802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--bg-color: #121212;</a:t>
            </a:r>
            <a:endParaRPr lang="en-US" sz="802" dirty="0"/>
          </a:p>
          <a:p>
            <a:pPr indent="0" marL="0">
              <a:lnSpc>
                <a:spcPts val="1042"/>
              </a:lnSpc>
              <a:buNone/>
            </a:pPr>
            <a:r>
              <a:rPr lang="en-US" sz="802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--card-bg: #1e1e1e;</a:t>
            </a:r>
            <a:endParaRPr lang="en-US" sz="802" dirty="0"/>
          </a:p>
          <a:p>
            <a:pPr indent="0" marL="0">
              <a:lnSpc>
                <a:spcPts val="1042"/>
              </a:lnSpc>
              <a:buNone/>
            </a:pPr>
            <a:r>
              <a:rPr lang="en-US" sz="802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--text-color: #e0e0e0;</a:t>
            </a:r>
            <a:endParaRPr lang="en-US" sz="802" dirty="0"/>
          </a:p>
          <a:p>
            <a:pPr indent="0" marL="0">
              <a:lnSpc>
                <a:spcPts val="1042"/>
              </a:lnSpc>
              <a:buNone/>
            </a:pPr>
            <a:r>
              <a:rPr lang="en-US" sz="802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2" dirty="0"/>
          </a:p>
          <a:p>
            <a:pPr indent="0" marL="0">
              <a:lnSpc>
                <a:spcPts val="1042"/>
              </a:lnSpc>
              <a:buNone/>
            </a:pPr>
            <a:r>
              <a:rPr lang="en-US" sz="802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2" dirty="0"/>
          </a:p>
          <a:p>
            <a:pPr indent="0" marL="0">
              <a:lnSpc>
                <a:spcPts val="1042"/>
              </a:lnSpc>
              <a:buNone/>
            </a:pPr>
            <a:r>
              <a:rPr lang="en-US" sz="802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 {</a:t>
            </a:r>
            <a:endParaRPr lang="en-US" sz="802" dirty="0"/>
          </a:p>
          <a:p>
            <a:pPr indent="0" marL="0">
              <a:lnSpc>
                <a:spcPts val="1042"/>
              </a:lnSpc>
              <a:buNone/>
            </a:pPr>
            <a:r>
              <a:rPr lang="en-US" sz="802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background-color: var(--bg-color);</a:t>
            </a:r>
            <a:endParaRPr lang="en-US" sz="802" dirty="0"/>
          </a:p>
          <a:p>
            <a:pPr indent="0" marL="0">
              <a:lnSpc>
                <a:spcPts val="1042"/>
              </a:lnSpc>
              <a:buNone/>
            </a:pPr>
            <a:r>
              <a:rPr lang="en-US" sz="802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color: var(--text-color);</a:t>
            </a:r>
            <a:endParaRPr lang="en-US" sz="802" dirty="0"/>
          </a:p>
          <a:p>
            <a:pPr indent="0" marL="0">
              <a:lnSpc>
                <a:spcPts val="1042"/>
              </a:lnSpc>
              <a:buNone/>
            </a:pPr>
            <a:r>
              <a:rPr lang="en-US" sz="802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transition: background-color var(--transition-speed),</a:t>
            </a:r>
            <a:endParaRPr lang="en-US" sz="802" dirty="0"/>
          </a:p>
          <a:p>
            <a:pPr indent="0" marL="0">
              <a:lnSpc>
                <a:spcPts val="1042"/>
              </a:lnSpc>
              <a:buNone/>
            </a:pPr>
            <a:r>
              <a:rPr lang="en-US" sz="802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color var(--transition-speed);</a:t>
            </a:r>
            <a:endParaRPr lang="en-US" sz="802" dirty="0"/>
          </a:p>
          <a:p>
            <a:pPr indent="0" marL="0">
              <a:lnSpc>
                <a:spcPts val="1042"/>
              </a:lnSpc>
              <a:buNone/>
            </a:pPr>
            <a:r>
              <a:rPr lang="en-US" sz="802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2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STUDI KASUS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Render Tabel dengan DocumentFragment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ADVANCED-APP.JS — RENDERTABLE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1426464"/>
            <a:ext cx="8138160" cy="3191256"/>
          </a:xfrm>
          <a:prstGeom prst="roundRect">
            <a:avLst>
              <a:gd name="adj" fmla="val 1719"/>
            </a:avLst>
          </a:prstGeom>
          <a:solidFill>
            <a:srgbClr val="11253C"/>
          </a:solidFill>
          <a:ln w="12700">
            <a:solidFill>
              <a:srgbClr val="1125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1499616"/>
            <a:ext cx="7918704" cy="3044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93"/>
              </a:lnSpc>
              <a:buNone/>
            </a:pPr>
            <a:r>
              <a:rPr lang="en-US" sz="764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renderTable = () =&gt; {</a:t>
            </a:r>
            <a:endParaRPr lang="en-US" sz="764" dirty="0"/>
          </a:p>
          <a:p>
            <a:pPr indent="0" marL="0">
              <a:lnSpc>
                <a:spcPts val="993"/>
              </a:lnSpc>
              <a:buNone/>
            </a:pPr>
            <a:r>
              <a:rPr lang="en-US" sz="764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gradesTableBody.textContent = "";</a:t>
            </a:r>
            <a:endParaRPr lang="en-US" sz="764" dirty="0"/>
          </a:p>
          <a:p>
            <a:pPr indent="0" marL="0">
              <a:lnSpc>
                <a:spcPts val="993"/>
              </a:lnSpc>
              <a:buNone/>
            </a:pPr>
            <a:r>
              <a:rPr lang="en-US" sz="764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764" dirty="0"/>
          </a:p>
          <a:p>
            <a:pPr indent="0" marL="0">
              <a:lnSpc>
                <a:spcPts val="993"/>
              </a:lnSpc>
              <a:buNone/>
            </a:pPr>
            <a:r>
              <a:rPr lang="en-US" sz="764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startIndex = (currentPage - 1) * itemsPerPage;</a:t>
            </a:r>
            <a:endParaRPr lang="en-US" sz="764" dirty="0"/>
          </a:p>
          <a:p>
            <a:pPr indent="0" marL="0">
              <a:lnSpc>
                <a:spcPts val="993"/>
              </a:lnSpc>
              <a:buNone/>
            </a:pPr>
            <a:r>
              <a:rPr lang="en-US" sz="764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pageData = filteredData.slice(startIndex, startIndex + itemsPerPage);</a:t>
            </a:r>
            <a:endParaRPr lang="en-US" sz="764" dirty="0"/>
          </a:p>
          <a:p>
            <a:pPr indent="0" marL="0">
              <a:lnSpc>
                <a:spcPts val="993"/>
              </a:lnSpc>
              <a:buNone/>
            </a:pPr>
            <a:r>
              <a:rPr lang="en-US" sz="764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764" dirty="0"/>
          </a:p>
          <a:p>
            <a:pPr indent="0" marL="0">
              <a:lnSpc>
                <a:spcPts val="993"/>
              </a:lnSpc>
              <a:buNone/>
            </a:pPr>
            <a:r>
              <a:rPr lang="en-US" sz="764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kontainer memori sementara</a:t>
            </a:r>
            <a:endParaRPr lang="en-US" sz="764" dirty="0"/>
          </a:p>
          <a:p>
            <a:pPr indent="0" marL="0">
              <a:lnSpc>
                <a:spcPts val="993"/>
              </a:lnSpc>
              <a:buNone/>
            </a:pPr>
            <a:r>
              <a:rPr lang="en-US" sz="764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fragment = document.createDocumentFragment();</a:t>
            </a:r>
            <a:endParaRPr lang="en-US" sz="764" dirty="0"/>
          </a:p>
          <a:p>
            <a:pPr indent="0" marL="0">
              <a:lnSpc>
                <a:spcPts val="993"/>
              </a:lnSpc>
              <a:buNone/>
            </a:pPr>
            <a:r>
              <a:rPr lang="en-US" sz="764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764" dirty="0"/>
          </a:p>
          <a:p>
            <a:pPr indent="0" marL="0">
              <a:lnSpc>
                <a:spcPts val="993"/>
              </a:lnSpc>
              <a:buNone/>
            </a:pPr>
            <a:r>
              <a:rPr lang="en-US" sz="764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pageData.forEach(student =&gt; {</a:t>
            </a:r>
            <a:endParaRPr lang="en-US" sz="764" dirty="0"/>
          </a:p>
          <a:p>
            <a:pPr indent="0" marL="0">
              <a:lnSpc>
                <a:spcPts val="993"/>
              </a:lnSpc>
              <a:buNone/>
            </a:pPr>
            <a:r>
              <a:rPr lang="en-US" sz="764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const tr = document.createElement("tr");</a:t>
            </a:r>
            <a:endParaRPr lang="en-US" sz="764" dirty="0"/>
          </a:p>
          <a:p>
            <a:pPr indent="0" marL="0">
              <a:lnSpc>
                <a:spcPts val="993"/>
              </a:lnSpc>
              <a:buNone/>
            </a:pPr>
            <a:r>
              <a:rPr lang="en-US" sz="764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const tdNim = document.createElement("td");</a:t>
            </a:r>
            <a:endParaRPr lang="en-US" sz="764" dirty="0"/>
          </a:p>
          <a:p>
            <a:pPr indent="0" marL="0">
              <a:lnSpc>
                <a:spcPts val="993"/>
              </a:lnSpc>
              <a:buNone/>
            </a:pPr>
            <a:r>
              <a:rPr lang="en-US" sz="764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tdNim.textContent = student.nim;</a:t>
            </a:r>
            <a:endParaRPr lang="en-US" sz="764" dirty="0"/>
          </a:p>
          <a:p>
            <a:pPr indent="0" marL="0">
              <a:lnSpc>
                <a:spcPts val="993"/>
              </a:lnSpc>
              <a:buNone/>
            </a:pPr>
            <a:r>
              <a:rPr lang="en-US" sz="764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tr.appendChild(tdNim);</a:t>
            </a:r>
            <a:endParaRPr lang="en-US" sz="764" dirty="0"/>
          </a:p>
          <a:p>
            <a:pPr indent="0" marL="0">
              <a:lnSpc>
                <a:spcPts val="993"/>
              </a:lnSpc>
              <a:buNone/>
            </a:pPr>
            <a:r>
              <a:rPr lang="en-US" sz="764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... sel lainnya</a:t>
            </a:r>
            <a:endParaRPr lang="en-US" sz="764" dirty="0"/>
          </a:p>
          <a:p>
            <a:pPr indent="0" marL="0">
              <a:lnSpc>
                <a:spcPts val="993"/>
              </a:lnSpc>
              <a:buNone/>
            </a:pPr>
            <a:r>
              <a:rPr lang="en-US" sz="764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fragment.appendChild(tr);   // bukan ke DOM aktif</a:t>
            </a:r>
            <a:endParaRPr lang="en-US" sz="764" dirty="0"/>
          </a:p>
          <a:p>
            <a:pPr indent="0" marL="0">
              <a:lnSpc>
                <a:spcPts val="993"/>
              </a:lnSpc>
              <a:buNone/>
            </a:pPr>
            <a:r>
              <a:rPr lang="en-US" sz="764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});</a:t>
            </a:r>
            <a:endParaRPr lang="en-US" sz="764" dirty="0"/>
          </a:p>
          <a:p>
            <a:pPr indent="0" marL="0">
              <a:lnSpc>
                <a:spcPts val="993"/>
              </a:lnSpc>
              <a:buNone/>
            </a:pPr>
            <a:r>
              <a:rPr lang="en-US" sz="764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764" dirty="0"/>
          </a:p>
          <a:p>
            <a:pPr indent="0" marL="0">
              <a:lnSpc>
                <a:spcPts val="993"/>
              </a:lnSpc>
              <a:buNone/>
            </a:pPr>
            <a:r>
              <a:rPr lang="en-US" sz="764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hanya memicu satu kali reflow dan repaint</a:t>
            </a:r>
            <a:endParaRPr lang="en-US" sz="764" dirty="0"/>
          </a:p>
          <a:p>
            <a:pPr indent="0" marL="0">
              <a:lnSpc>
                <a:spcPts val="993"/>
              </a:lnSpc>
              <a:buNone/>
            </a:pPr>
            <a:r>
              <a:rPr lang="en-US" sz="764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gradesTableBody.appendChild(fragment);</a:t>
            </a:r>
            <a:endParaRPr lang="en-US" sz="764" dirty="0"/>
          </a:p>
          <a:p>
            <a:pPr indent="0" marL="0">
              <a:lnSpc>
                <a:spcPts val="993"/>
              </a:lnSpc>
              <a:buNone/>
            </a:pPr>
            <a:r>
              <a:rPr lang="en-US" sz="764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764" dirty="0"/>
          </a:p>
          <a:p>
            <a:pPr indent="0" marL="0">
              <a:lnSpc>
                <a:spcPts val="993"/>
              </a:lnSpc>
              <a:buNone/>
            </a:pPr>
            <a:r>
              <a:rPr lang="en-US" sz="764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totalPages = Math.ceil(filteredData.length / itemsPerPage) || 1;</a:t>
            </a:r>
            <a:endParaRPr lang="en-US" sz="764" dirty="0"/>
          </a:p>
          <a:p>
            <a:pPr indent="0" marL="0">
              <a:lnSpc>
                <a:spcPts val="993"/>
              </a:lnSpc>
              <a:buNone/>
            </a:pPr>
            <a:r>
              <a:rPr lang="en-US" sz="764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pageIndicator.textContent = `Halaman ${currentPage} dari ${totalPages}`;</a:t>
            </a:r>
            <a:endParaRPr lang="en-US" sz="764" dirty="0"/>
          </a:p>
          <a:p>
            <a:pPr indent="0" marL="0">
              <a:lnSpc>
                <a:spcPts val="993"/>
              </a:lnSpc>
              <a:buNone/>
            </a:pPr>
            <a:r>
              <a:rPr lang="en-US" sz="764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764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 STUDI KASUS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Paginasi Terkontrol Hash dan Toggle Tema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ADVANCED-APP.JS — INTEGRASI BOM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1426464"/>
            <a:ext cx="8138160" cy="1403604"/>
          </a:xfrm>
          <a:prstGeom prst="roundRect">
            <a:avLst>
              <a:gd name="adj" fmla="val 3909"/>
            </a:avLst>
          </a:prstGeom>
          <a:solidFill>
            <a:srgbClr val="11253C"/>
          </a:solidFill>
          <a:ln w="12700">
            <a:solidFill>
              <a:srgbClr val="1125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1499616"/>
            <a:ext cx="7918704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updatePageFromHash = () =&gt; {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hash = window.location.hash;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(hash.startsWith("#page-")) {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const pageNum = parseInt(hash.replace("#page-", ""), 10);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(!isNaN(pageNum) &amp;&amp; pageNum &gt; 0) currentPage = pageNum;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else {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currentPage = 1;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renderTable();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window.addEventListener("hashchange", updatePageFromHash);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nextBtn.addEventListener("click", () =&gt; {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window.location.hash = `page-${currentPage + 1}`;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502920" y="2994660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ADVANCED-APP.JS — KONTROL TEMA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02920" y="3214116"/>
            <a:ext cx="8138160" cy="1403604"/>
          </a:xfrm>
          <a:prstGeom prst="roundRect">
            <a:avLst>
              <a:gd name="adj" fmla="val 3909"/>
            </a:avLst>
          </a:prstGeom>
          <a:solidFill>
            <a:srgbClr val="11253C"/>
          </a:solidFill>
          <a:ln w="12700">
            <a:solidFill>
              <a:srgbClr val="1125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2648" y="3287268"/>
            <a:ext cx="7918704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4"/>
              </a:lnSpc>
              <a:buNone/>
            </a:pPr>
            <a:r>
              <a:rPr lang="en-US" sz="834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themeToggleBtn.addEventListener("click", () =&gt; {</a:t>
            </a:r>
            <a:endParaRPr lang="en-US" sz="834" dirty="0"/>
          </a:p>
          <a:p>
            <a:pPr indent="0" marL="0">
              <a:lnSpc>
                <a:spcPts val="1084"/>
              </a:lnSpc>
              <a:buNone/>
            </a:pPr>
            <a:r>
              <a:rPr lang="en-US" sz="834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document.body.classList.toggle("dark-theme");</a:t>
            </a:r>
            <a:endParaRPr lang="en-US" sz="834" dirty="0"/>
          </a:p>
          <a:p>
            <a:pPr indent="0" marL="0">
              <a:lnSpc>
                <a:spcPts val="1084"/>
              </a:lnSpc>
              <a:buNone/>
            </a:pPr>
            <a:r>
              <a:rPr lang="en-US" sz="834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34" dirty="0"/>
          </a:p>
          <a:p>
            <a:pPr indent="0" marL="0">
              <a:lnSpc>
                <a:spcPts val="1084"/>
              </a:lnSpc>
              <a:buNone/>
            </a:pPr>
            <a:r>
              <a:rPr lang="en-US" sz="834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(document.body.classList.contains("dark-theme")) {</a:t>
            </a:r>
            <a:endParaRPr lang="en-US" sz="834" dirty="0"/>
          </a:p>
          <a:p>
            <a:pPr indent="0" marL="0">
              <a:lnSpc>
                <a:spcPts val="1084"/>
              </a:lnSpc>
              <a:buNone/>
            </a:pPr>
            <a:r>
              <a:rPr lang="en-US" sz="834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themeToggleBtn.textContent = "Tema Terang";</a:t>
            </a:r>
            <a:endParaRPr lang="en-US" sz="834" dirty="0"/>
          </a:p>
          <a:p>
            <a:pPr indent="0" marL="0">
              <a:lnSpc>
                <a:spcPts val="1084"/>
              </a:lnSpc>
              <a:buNone/>
            </a:pPr>
            <a:r>
              <a:rPr lang="en-US" sz="834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else {</a:t>
            </a:r>
            <a:endParaRPr lang="en-US" sz="834" dirty="0"/>
          </a:p>
          <a:p>
            <a:pPr indent="0" marL="0">
              <a:lnSpc>
                <a:spcPts val="1084"/>
              </a:lnSpc>
              <a:buNone/>
            </a:pPr>
            <a:r>
              <a:rPr lang="en-US" sz="834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themeToggleBtn.textContent = "Tema Gelap";</a:t>
            </a:r>
            <a:endParaRPr lang="en-US" sz="834" dirty="0"/>
          </a:p>
          <a:p>
            <a:pPr indent="0" marL="0">
              <a:lnSpc>
                <a:spcPts val="1084"/>
              </a:lnSpc>
              <a:buNone/>
            </a:pPr>
            <a:r>
              <a:rPr lang="en-US" sz="834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34" dirty="0"/>
          </a:p>
          <a:p>
            <a:pPr indent="0" marL="0">
              <a:lnSpc>
                <a:spcPts val="1084"/>
              </a:lnSpc>
              <a:buNone/>
            </a:pPr>
            <a:r>
              <a:rPr lang="en-US" sz="834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834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 PEMBAHASAN KODE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Penjelasan Alur dan Logika</a:t>
            </a:r>
            <a:endParaRPr lang="en-US" sz="24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07008"/>
          <a:ext cx="813816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5303520"/>
              </a:tblGrid>
              <a:tr h="334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Baris kode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Peran dalam program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</a:tr>
              <a:tr h="334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createDocumentFragment()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Membuat simpul virtual kosong di memori. Karena tidak terikat DOM Tree aktif, peramban tidak melakukan render ulang berkali-kali sehingga kinerja CPU terhemat secara masif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4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window.location.hash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Memanfaatkan hash URL sehingga pengguna dapat menyalin tautan atau menekan tombol kembali untuk kembali ke status paginasi sebelumnya secara tepat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  <a:tr h="334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addEventListener("hashchange")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Mendeteksi perubahan nilai hash lalu memicu pembacaan ulang dan render ulang isi tabel secara otomatis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4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classList.toggle("dark-theme")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Memasang atau melepas kelas pada elemen body. Perubahan variabel CSS memicu transisi visual halus berkat properti transition di stylesheet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2377440" y="150876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Evaluasi dan Tugas Mandiri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2377440" y="2432304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Pertanyaan konseptual tingkat analisis</a:t>
            </a:r>
            <a:endParaRPr lang="en-US" sz="1200" dirty="0"/>
          </a:p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Tugas praktik pemecahan masalah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 PERTANYAAN KONSEPTUAL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Analisis Tingkat Tinggi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2602992" cy="2097024"/>
          </a:xfrm>
          <a:prstGeom prst="roundRect">
            <a:avLst>
              <a:gd name="adj" fmla="val 2616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307592"/>
            <a:ext cx="2310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Pipeline Rendering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9224" y="1627632"/>
            <a:ext cx="2310384" cy="1566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Mengapa mengubah posisi elemen memicu reflow sementara mengubah opasitas hanya memicu repaint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alur pipa rendering peramban modern untuk kedua properti tersebut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70504" y="1207008"/>
            <a:ext cx="2602992" cy="2097024"/>
          </a:xfrm>
          <a:prstGeom prst="roundRect">
            <a:avLst>
              <a:gd name="adj" fmla="val 2616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16808" y="1307592"/>
            <a:ext cx="2310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Evaluasi History BOM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16808" y="1627632"/>
            <a:ext cx="2310384" cy="1566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Bagaimana cara kerja history back dan pushState pada perutean sisi klien aplikasi satu halaman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Mengapa manipulasi history dinilai tidak membebani server dengan permintaan halaman fisik baru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038088" y="1207008"/>
            <a:ext cx="2602992" cy="2097024"/>
          </a:xfrm>
          <a:prstGeom prst="roundRect">
            <a:avLst>
              <a:gd name="adj" fmla="val 2616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84392" y="1307592"/>
            <a:ext cx="2310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Efisiensi Paginasi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84392" y="1627632"/>
            <a:ext cx="2310384" cy="1566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Pada data grid berisi seratus ribu transaksi, mana yang lebih optimal: memotong array di memori klien atau meminta potongan data dari server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Berikan analisis pertukaran performa memori klien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 TUGAS PRAKTIK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Galeri Gambar Responsif Interaktif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3163824" cy="3410712"/>
          </a:xfrm>
          <a:prstGeom prst="roundRect">
            <a:avLst>
              <a:gd name="adj" fmla="val 1734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307592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Skenario tugas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9224" y="1627632"/>
            <a:ext cx="2871216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Rancang galeri foto dinamis yang menampilkan gambar dengan lancar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Galeri menyaring gambar berdasarkan kategori dan melacak kategori terpilih melalui parameter hash URL agar ramah navigasi bookmark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849624" y="1207008"/>
            <a:ext cx="4791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Spesifikasi persyaratan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849624" y="1499616"/>
            <a:ext cx="4791456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10-tugas-browser.html dan 10-tugas-browser.js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Sediakan array berisi minimal delapan objek gambar dengan atribut id, judul, kategori, dan url gambar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Rancang tombol filter kategori menggunakan Flexbox yang mengubah hash URL saat diklik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Pasang listener hashchange untuk membaca kategori aktif, menyaring data, lalu merender hasilnya dengan DocumentFragment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Terapkan efek transisi memudar masuk melalui manipulasi classList setelah elemen disisipkan ke DOM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Sediakan tombol pengalih tampilan grid tiga kolom dan list satu kolom menggunakan classList toggle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13232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PENUTUP MODUL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31520" y="987552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Rangkuman Modul 10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924812" cy="1737360"/>
          </a:xfrm>
          <a:prstGeom prst="roundRect">
            <a:avLst>
              <a:gd name="adj" fmla="val 3158"/>
            </a:avLst>
          </a:prstGeom>
          <a:solidFill>
            <a:srgbClr val="11253C"/>
          </a:solidFill>
          <a:ln w="9525">
            <a:solidFill>
              <a:srgbClr val="1E3E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901952"/>
            <a:ext cx="16322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49224" y="2231136"/>
            <a:ext cx="163220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D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Objek window, location, history, dan navigator membuka akses ke lingkungan di luar dokumen halaman.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74036" y="1783080"/>
            <a:ext cx="1924812" cy="1737360"/>
          </a:xfrm>
          <a:prstGeom prst="roundRect">
            <a:avLst>
              <a:gd name="adj" fmla="val 3158"/>
            </a:avLst>
          </a:prstGeom>
          <a:solidFill>
            <a:srgbClr val="11253C"/>
          </a:solidFill>
          <a:ln w="9525">
            <a:solidFill>
              <a:srgbClr val="1E3E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20340" y="1901952"/>
            <a:ext cx="16322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Reflow dan Repaint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720340" y="2231136"/>
            <a:ext cx="163220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D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Perubahan geometri memicu perhitungan ulang tata letak, perubahan visual murni hanya memicu penggambaran ulang.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45152" y="1783080"/>
            <a:ext cx="1924812" cy="1737360"/>
          </a:xfrm>
          <a:prstGeom prst="roundRect">
            <a:avLst>
              <a:gd name="adj" fmla="val 3158"/>
            </a:avLst>
          </a:prstGeom>
          <a:solidFill>
            <a:srgbClr val="11253C"/>
          </a:solidFill>
          <a:ln w="9525">
            <a:solidFill>
              <a:srgbClr val="1E3E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91456" y="1901952"/>
            <a:ext cx="16322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DocumentFragment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791456" y="2231136"/>
            <a:ext cx="163220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D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Batching manipulasi di memori menekan ribuan reflow menjadi satu kali penyisipan ke DOM aktif.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16268" y="1783080"/>
            <a:ext cx="1924812" cy="1737360"/>
          </a:xfrm>
          <a:prstGeom prst="roundRect">
            <a:avLst>
              <a:gd name="adj" fmla="val 3158"/>
            </a:avLst>
          </a:prstGeom>
          <a:solidFill>
            <a:srgbClr val="11253C"/>
          </a:solidFill>
          <a:ln w="9525">
            <a:solidFill>
              <a:srgbClr val="1E3E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62572" y="1901952"/>
            <a:ext cx="16322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Kontrol Gaya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862572" y="2231136"/>
            <a:ext cx="163220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D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classList memindahkan definisi visual ke stylesheet dan menyisakan pengaturan status bagi JavaScript.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3767328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berikutnya: Render Grafis Canvas dan Framework React.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Pemrograman Website — Modul 10</dc:title>
  <dc:subject>PptxGenJS Presentation</dc:subject>
  <dc:creator>Departemen Teknik Informatika, Universitas Hasanuddin</dc:creator>
  <cp:lastModifiedBy>Departemen Teknik Informatika, Universitas Hasanuddin</cp:lastModifiedBy>
  <cp:revision>1</cp:revision>
  <dcterms:created xsi:type="dcterms:W3CDTF">2026-08-18T06:00:32Z</dcterms:created>
  <dcterms:modified xsi:type="dcterms:W3CDTF">2026-08-18T06:00:32Z</dcterms:modified>
</cp:coreProperties>
</file>