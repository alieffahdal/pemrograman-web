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952" y="566928"/>
            <a:ext cx="768096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66420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31520" y="19385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Pemrograman Website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2542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4</a:t>
            </a:r>
            <a:endParaRPr lang="en-US" sz="15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Penskalaan Tata Letak Modern dengan Grid, Flexbox, dan Bootstrap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39502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 Teknik Informatika, Fakultas Teknik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Hasanuddin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MATERI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Pembahasan Modul 4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922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922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dan posisi modul sebagai puncak sisi front-end statis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6347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977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30977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Teoritis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0977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Evolusi tata letak, Flexbox, CSS Grid, media queries, dan Bootstrap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2402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032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7032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7032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memilih Flexbox atau Grid serta penerapan Bootstrap yang bijak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457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087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63087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3087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dashboard portal akademik yang responsif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45122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1426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291426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91426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komparatif layout dan tugas portal jurnal multi-kolom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responsif dari modul ini menjadi wadah visual bagi data dinamis yang diproses mesin back-end.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Pendahuluan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Modul 4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Relevansi terhadap modul pemrograman sisi server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CAPAIAN PEMBELAJARAN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Kemampuan Akhir yang Diharapkan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203579"/>
          </a:xfrm>
          <a:prstGeom prst="roundRect">
            <a:avLst>
              <a:gd name="adj" fmla="val 4558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tata letak satu dimensi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673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CSS Flexible Box Layout secara dinamis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Mengatur distribusi ruang di sepanjang satu sumbu alur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203579"/>
          </a:xfrm>
          <a:prstGeom prst="roundRect">
            <a:avLst>
              <a:gd name="adj" fmla="val 4558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tata letak dua dimensi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673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kerangka kompleks dengan CSS Grid Layout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Mengendalikan penempatan elemen pada koordinat grid tertentu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575179"/>
            <a:ext cx="3986784" cy="1203579"/>
          </a:xfrm>
          <a:prstGeom prst="roundRect">
            <a:avLst>
              <a:gd name="adj" fmla="val 4558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675763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media queries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" y="2995803"/>
            <a:ext cx="3694176" cy="673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filosofi Mobile-First Design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Menghasilkan halaman yang responsif di berbagai ukuran perangkat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2575179"/>
            <a:ext cx="3986784" cy="1203579"/>
          </a:xfrm>
          <a:prstGeom prst="roundRect">
            <a:avLst>
              <a:gd name="adj" fmla="val 4558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675763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Mengintegrasikan Bootstrap 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995803"/>
            <a:ext cx="3694176" cy="673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Mempercepat pembuatan antarmuka responsif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Memanfaatkan grid bawaan dan komponen pustaka utilitas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RELEVANSI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Puncak Rekayasa Antarmuka Statis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6286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dalam alur mata kuliah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628693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dokumen dari Modul 1 dan 2 serta gaya visual dari Modul 3 kini dikombinasikan menjadi tata letak halaman yang utuh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Hasilnya berupa antarmuka profesional yang adaptif terhadap berbagai resolusi layar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inilah yang akan menampilkan data dinamis hasil pemrosesan back-end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14493" y="1207008"/>
            <a:ext cx="3326587" cy="3410712"/>
          </a:xfrm>
          <a:prstGeom prst="roundRect">
            <a:avLst>
              <a:gd name="adj" fmla="val 164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0797" y="1307592"/>
            <a:ext cx="3033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ke Modul Lain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60797" y="1627632"/>
            <a:ext cx="303397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5: penyisipan data dinamis dari PHP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6 dan 7: penyajian hasil query basis data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12: penataan antarmuka berbasis komponen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Teoritis dan Arsitektur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Evolusi teknik tata letak web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Flexbox untuk tata letak satu dimensi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untuk tata letak dua dimensi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dan integrasi Bootstrap 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EVOLUSI TATA LETAK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Teknik Lama dan Kelemahannya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standardisasi CSS3, pengembang terpaksa menggunakan teknik peretasan tata letak yang tidak efisien.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27048"/>
            <a:ext cx="2602992" cy="1780794"/>
          </a:xfrm>
          <a:prstGeom prst="roundRect">
            <a:avLst>
              <a:gd name="adj" fmla="val 308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62763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Layouts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" y="1947672"/>
            <a:ext cx="2310384" cy="125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elemen tabel untuk mengatur kolom halaman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Melanggar prinsip pemisahan konten dan presentasi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buruk bagi aksesibilitas dan performa mesin pencari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70504" y="1527048"/>
            <a:ext cx="2602992" cy="1780794"/>
          </a:xfrm>
          <a:prstGeom prst="roundRect">
            <a:avLst>
              <a:gd name="adj" fmla="val 3081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6808" y="162763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Layouts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16808" y="1947672"/>
            <a:ext cx="2310384" cy="125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Memanfaatkan properti float yang semula dirancang untuk mengalirkan teks di sekitar gambar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Membutuhkan teknik pembersihan float yang rumit agar elemen induk tidak kolaps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8088" y="1527048"/>
            <a:ext cx="2602992" cy="1780794"/>
          </a:xfrm>
          <a:prstGeom prst="roundRect">
            <a:avLst>
              <a:gd name="adj" fmla="val 308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4392" y="162763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Inline-Block Hacks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84392" y="1947672"/>
            <a:ext cx="2310384" cy="125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Memiliki masalah margin whitespace bawaan antar elemen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Sulit dihilangkan tanpa mengubah kerapatan karakter kode HTML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modern menjawabnya melalui dua modul yang dirancang khusus: Flexbox untuk satu dimensi dan Grid untuk dua dimensi.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CSS FLEXBOX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Properti Container dan Item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mengatur item dalam satu dimensi alur tunggal dan mampu mengubah dimensi item secara otomatis untuk mengisi ruang tersedia.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 pada Flex Container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flex mengaktifkan konteks pemformatan flex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flex-direction menentukan arah sumbu utama: row, row-reverse, column, atau column-reverse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flex-wrap menentukan apakah item dipaksa satu baris atau boleh membungkus ke baris baru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 mengatur perataan di sepanjang sumbu utama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align-items mengatur perataan di sepanjang sumbu silang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 pada Flex Items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974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flex-grow menentukan kemampuan item tumbuh mengisi sisa ruang kosong, bernilai bawaan nol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flex-shrink menentukan kemampuan item menyusut saat ruang menyempit, bernilai bawaan satu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flex-basis menentukan ukuran awal elemen sebelum sisa ruang didistribusikan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CSS GRID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Istilah Penting pada Sistem Grid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Berbeda dengan Flexbox, CSS Grid menangani baris dan kolom secara bersamaan sehingga memberi kontrol total atas penempatan elemen.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8138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852160"/>
              </a:tblGrid>
              <a:tr h="351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Istilah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Pengertian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351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Lines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Garis horizontal dan vertikal pembentuk struktur tabel virtual, diberi nomor indeks mulai dari satu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1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Track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Ruang di antara dua garis grid sejajar, berupa kolom track atau baris track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351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Cell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terkecil grid, diapit perpotongan dua baris dan dua kolom grid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1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Area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Wilayah persegi yang dibentuk dari kombinasi beberapa sel grid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351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fr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pecahan fleksibel yang mewakili bagian dari sisa ruang kosong di dalam kontainer grid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CSS GRID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Properti Utama Grid Container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1404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properti kunci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140403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grid mengaktifkan konteks pemformatan grid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grid-template-columns mendefinisikan jumlah dan ukuran kolom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grid-template-rows mendefinisikan jumlah dan ukuran baris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menentukan jarak pemisah antar sel, baik kolom maupun baris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grid-template-areas memungkinkan penamaan area secara visual menggunakan string teks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26203" y="1207008"/>
            <a:ext cx="38148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DEKLARASI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826203" y="1426464"/>
            <a:ext cx="3814877" cy="3191256"/>
          </a:xfrm>
          <a:prstGeom prst="roundRect">
            <a:avLst>
              <a:gd name="adj" fmla="val 171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5931" y="1499616"/>
            <a:ext cx="3595421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.dashboard-container {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1fr 2fr 1fr;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24px;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penamaan area secara visual */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.layout {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grid-template-areas: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"sidebar main-content";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MEDIA QUERIES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Filosofi Desain Responsif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mendeteksi karakteristik perangkat klien, khususnya lebar viewport, lalu menerapkan aturan gaya secara kondisional.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Design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Gaya dasar ditulis untuk layar terkecil terlebih dahulu tanpa kueri media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Kueri media beraturan min-width ditambahkan bertahap untuk layar yang lebih lebar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Menghasilkan kode CSS yang lebih bersih dan menghemat beban parsing di perangkat seluler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ini yang direkomendasikan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Desktop-First Design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974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Gaya dasar ditulis untuk layar lebar terlebih dahulu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Kueri media beraturan max-width digunakan untuk menyesuaikan tampilan saat layar menyempit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Cenderung menumpuk aturan penimpaan pada perangkat kecil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BOOTSTRAP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Grid dan Breakpoints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38148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komponen hierarkis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517904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17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6968" y="1499616"/>
            <a:ext cx="34308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" y="1737360"/>
            <a:ext cx="3430829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Pembungkus terluar yang menetapkan lebar responsif halaman melalui kelas container atau container-fluid.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557272"/>
            <a:ext cx="274320" cy="274320"/>
          </a:xfrm>
          <a:prstGeom prst="ellipse">
            <a:avLst/>
          </a:prstGeom>
          <a:solidFill>
            <a:srgbClr val="D98A1F"/>
          </a:solidFill>
          <a:ln w="6350">
            <a:solidFill>
              <a:srgbClr val="D98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57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6968" y="2538984"/>
            <a:ext cx="34308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" y="2776728"/>
            <a:ext cx="3430829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baris yang berfungsi sebagai kontainer flex dan menetralkan padding kontainer melalui margin negatif.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596640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96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6968" y="3578352"/>
            <a:ext cx="34308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" y="3816096"/>
            <a:ext cx="3430829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yang wajib menjadi anak langsung row. Satu baris dibagi menjadi dua belas kolom virtual.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00677" y="1207008"/>
            <a:ext cx="41404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 bawaan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00677" y="1499616"/>
            <a:ext cx="1738969" cy="532181"/>
          </a:xfrm>
          <a:prstGeom prst="roundRect">
            <a:avLst>
              <a:gd name="adj" fmla="val 859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5541" y="1499616"/>
            <a:ext cx="1629241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67662" y="1499616"/>
            <a:ext cx="2273418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bawah 576px, cukup gunakan kelas col tanpa akhiran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4500677" y="2123237"/>
            <a:ext cx="1738969" cy="532181"/>
          </a:xfrm>
          <a:prstGeom prst="roundRect">
            <a:avLst>
              <a:gd name="adj" fmla="val 8591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5541" y="2123237"/>
            <a:ext cx="1629241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67662" y="2123237"/>
            <a:ext cx="2273418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576px, misalnya col-sm-6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4500677" y="2746858"/>
            <a:ext cx="1738969" cy="532181"/>
          </a:xfrm>
          <a:prstGeom prst="roundRect">
            <a:avLst>
              <a:gd name="adj" fmla="val 859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5541" y="2746858"/>
            <a:ext cx="1629241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67662" y="2746858"/>
            <a:ext cx="2273418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768px, misalnya col-md-4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4500677" y="3370478"/>
            <a:ext cx="1738969" cy="532181"/>
          </a:xfrm>
          <a:prstGeom prst="roundRect">
            <a:avLst>
              <a:gd name="adj" fmla="val 8591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55541" y="3370478"/>
            <a:ext cx="1629241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67662" y="3370478"/>
            <a:ext cx="2273418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992px, misalnya col-lg-3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4500677" y="3994099"/>
            <a:ext cx="1738969" cy="532181"/>
          </a:xfrm>
          <a:prstGeom prst="roundRect">
            <a:avLst>
              <a:gd name="adj" fmla="val 859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55541" y="3994099"/>
            <a:ext cx="1629241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 dan xxl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67662" y="3994099"/>
            <a:ext cx="2273418" cy="53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1200px dan 1400px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Standardisasi dan Best Practices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menggunakan Flexbox dan kapan menggunakan Grid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Bootstrap secara bijak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PEMILIHAN TEKNIK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Flexbox atau CSS Grid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77640" cy="3410712"/>
          </a:xfrm>
          <a:prstGeom prst="roundRect">
            <a:avLst>
              <a:gd name="adj" fmla="val 160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Flexbox jika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8503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berorientasi linear satu arah, seperti bilah menu navigasi, daftar ikon horizontal, atau susunan tombol vertikal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 ingin dimensi item menentukan pembagian ruang secara otomatis berdasarkan konten di dalamnya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207008"/>
            <a:ext cx="3977640" cy="3410712"/>
          </a:xfrm>
          <a:prstGeom prst="roundRect">
            <a:avLst>
              <a:gd name="adj" fmla="val 160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9744" y="13075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CSS Grid jika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9744" y="1627632"/>
            <a:ext cx="368503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berorientasi dua dimensi, seperti galeri gambar, dashboard admin, atau layout makro halaman utama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 ingin mendefinisikan kerangka ruang terlebih dahulu secara kaku, baru menempatkan elemen ke sel yang tersedia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PENERAPAN BOOTSTRAP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Disiplin yang Wajib Dijaga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560957"/>
          </a:xfrm>
          <a:prstGeom prst="roundRect">
            <a:avLst>
              <a:gd name="adj" fmla="val 3515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Hindari utility pollution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1030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menumpuk kelas utilitas secara berlebihan di dalam dokumen HTML sehingga mengorbankan keterbacaan kode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Kelompokkan dekorasi menggunakan berkas CSS eksternal murni atau manfaatkan fitur kustomisasi Sass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560957"/>
          </a:xfrm>
          <a:prstGeom prst="roundRect">
            <a:avLst>
              <a:gd name="adj" fmla="val 3515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CDN yang aman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1030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Sertakan atribut integrity dan crossorigin saat memuat Bootstrap melalui Content Delivery Network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ini menjamin berkas yang dimuat tidak dimodifikasi secara ilegal oleh pihak ketiga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Praktis dan Studi Kasus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portal akademik responsif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Pembahasan baris kode krusial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Navigasi Flexbox dan Layout Makro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berkas dashboard-layout.css, lalu susun navigasi berbasis Flexbox dan kerangka halaman berbasis Grid.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270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DASHBOARD-LAYOUT.CSS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746504"/>
            <a:ext cx="8138160" cy="2871216"/>
          </a:xfrm>
          <a:prstGeom prst="roundRect">
            <a:avLst>
              <a:gd name="adj" fmla="val 1911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819656"/>
            <a:ext cx="791870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2. Flexbox Header Navigation */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.main-nav {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display: flex;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justify-content: space-between;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align-items: center;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background-color: #0b2265;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padding: 15px 30px;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color: #ffffff;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.main-nav__menu { display: flex; list-style: none; gap: 20px; }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3. CSS Grid Macro Layout */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.dashboard-container {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display: grid;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grid-template-columns: 1fr;   /* Mobile View */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gap: 24px;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max-width: 1200px;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margin: 0 auto;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768px) {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.dashboard-container {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grid-template-columns: 250px 1fr;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grid-template-areas: "sidebar main-content";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07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Mikro dan Integrasi Bootstrap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DASHBOARD-LAYOUT.CSS — CARDS GRID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8138160" cy="1403604"/>
          </a:xfrm>
          <a:prstGeom prst="roundRect">
            <a:avLst>
              <a:gd name="adj" fmla="val 390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99616"/>
            <a:ext cx="7918704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.cards-grid {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display: grid;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grid-template-columns: repeat(auto-fit, minmax(280px, 1fr));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gap: 20px;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99466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DASHBOARD.HTML — PEMUATAN PUSTAKA DAN KARTU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3214116"/>
            <a:ext cx="8138160" cy="1403604"/>
          </a:xfrm>
          <a:prstGeom prst="roundRect">
            <a:avLst>
              <a:gd name="adj" fmla="val 390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3287268"/>
            <a:ext cx="7918704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0"/>
              </a:lnSpc>
              <a:buNone/>
            </a:pPr>
            <a:r>
              <a:rPr lang="en-US" sz="57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href="https://cdn.jsdelivr.net/npm/bootstrap@5.3.2/dist/css/bootstrap.min.css"</a:t>
            </a:r>
            <a:endParaRPr lang="en-US" sz="577" dirty="0"/>
          </a:p>
          <a:p>
            <a:pPr indent="0" marL="0">
              <a:lnSpc>
                <a:spcPts val="750"/>
              </a:lnSpc>
              <a:buNone/>
            </a:pPr>
            <a:r>
              <a:rPr lang="en-US" sz="57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rel="stylesheet" integrity="sha384-..." crossorigin="anonymous"&gt;</a:t>
            </a:r>
            <a:endParaRPr lang="en-US" sz="577" dirty="0"/>
          </a:p>
          <a:p>
            <a:pPr indent="0" marL="0">
              <a:lnSpc>
                <a:spcPts val="750"/>
              </a:lnSpc>
              <a:buNone/>
            </a:pPr>
            <a:r>
              <a:rPr lang="en-US" sz="57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 href="./dashboard-layout.css"&gt;</a:t>
            </a:r>
            <a:endParaRPr lang="en-US" sz="577" dirty="0"/>
          </a:p>
          <a:p>
            <a:pPr indent="0" marL="0">
              <a:lnSpc>
                <a:spcPts val="750"/>
              </a:lnSpc>
              <a:buNone/>
            </a:pPr>
            <a:r>
              <a:rPr lang="en-US" sz="57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577" dirty="0"/>
          </a:p>
          <a:p>
            <a:pPr indent="0" marL="0">
              <a:lnSpc>
                <a:spcPts val="750"/>
              </a:lnSpc>
              <a:buNone/>
            </a:pPr>
            <a:r>
              <a:rPr lang="en-US" sz="57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class="cards-grid"&gt;</a:t>
            </a:r>
            <a:endParaRPr lang="en-US" sz="577" dirty="0"/>
          </a:p>
          <a:p>
            <a:pPr indent="0" marL="0">
              <a:lnSpc>
                <a:spcPts val="750"/>
              </a:lnSpc>
              <a:buNone/>
            </a:pPr>
            <a:r>
              <a:rPr lang="en-US" sz="57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class="card shadow-sm border-light"&gt;</a:t>
            </a:r>
            <a:endParaRPr lang="en-US" sz="577" dirty="0"/>
          </a:p>
          <a:p>
            <a:pPr indent="0" marL="0">
              <a:lnSpc>
                <a:spcPts val="750"/>
              </a:lnSpc>
              <a:buNone/>
            </a:pPr>
            <a:r>
              <a:rPr lang="en-US" sz="57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class="card-body"&gt;</a:t>
            </a:r>
            <a:endParaRPr lang="en-US" sz="577" dirty="0"/>
          </a:p>
          <a:p>
            <a:pPr indent="0" marL="0">
              <a:lnSpc>
                <a:spcPts val="750"/>
              </a:lnSpc>
              <a:buNone/>
            </a:pPr>
            <a:r>
              <a:rPr lang="en-US" sz="57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&lt;h5 class="card-title text-primary"&gt;Indeks Prestasi Kumulatif&lt;/h5&gt;</a:t>
            </a:r>
            <a:endParaRPr lang="en-US" sz="577" dirty="0"/>
          </a:p>
          <a:p>
            <a:pPr indent="0" marL="0">
              <a:lnSpc>
                <a:spcPts val="750"/>
              </a:lnSpc>
              <a:buNone/>
            </a:pPr>
            <a:r>
              <a:rPr lang="en-US" sz="57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 class="display-5"&gt;3.85&lt;/p&gt;</a:t>
            </a:r>
            <a:endParaRPr lang="en-US" sz="577" dirty="0"/>
          </a:p>
          <a:p>
            <a:pPr indent="0" marL="0">
              <a:lnSpc>
                <a:spcPts val="750"/>
              </a:lnSpc>
              <a:buNone/>
            </a:pPr>
            <a:r>
              <a:rPr lang="en-US" sz="57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&lt;a href="#" class="btn btn-outline-primary btn-sm"&gt;Lihat Detail KHS&lt;/a&gt;</a:t>
            </a:r>
            <a:endParaRPr lang="en-US" sz="577" dirty="0"/>
          </a:p>
          <a:p>
            <a:pPr indent="0" marL="0">
              <a:lnSpc>
                <a:spcPts val="750"/>
              </a:lnSpc>
              <a:buNone/>
            </a:pPr>
            <a:r>
              <a:rPr lang="en-US" sz="57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577" dirty="0"/>
          </a:p>
          <a:p>
            <a:pPr indent="0" marL="0">
              <a:lnSpc>
                <a:spcPts val="750"/>
              </a:lnSpc>
              <a:buNone/>
            </a:pPr>
            <a:r>
              <a:rPr lang="en-US" sz="57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577" dirty="0"/>
          </a:p>
          <a:p>
            <a:pPr indent="0" marL="0">
              <a:lnSpc>
                <a:spcPts val="750"/>
              </a:lnSpc>
              <a:buNone/>
            </a:pPr>
            <a:r>
              <a:rPr lang="en-US" sz="57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577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PEMBAHASAN KODE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Penjelasan Alur dan Logika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1063752"/>
          </a:xfrm>
          <a:prstGeom prst="roundRect">
            <a:avLst>
              <a:gd name="adj" fmla="val 5158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1601724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6017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14984" y="1207008"/>
            <a:ext cx="219456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justify-content: space-between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64408" y="1207008"/>
            <a:ext cx="521208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Memerintahkan peramban memisahkan elemen logo dan daftar menu secara maksimal ke ujung kiri dan ujung kanan wilayah header.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380488"/>
            <a:ext cx="8138160" cy="1063752"/>
          </a:xfrm>
          <a:prstGeom prst="roundRect">
            <a:avLst>
              <a:gd name="adj" fmla="val 5158"/>
            </a:avLst>
          </a:prstGeom>
          <a:solidFill>
            <a:srgbClr val="F3F7F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" y="2775204"/>
            <a:ext cx="274320" cy="274320"/>
          </a:xfrm>
          <a:prstGeom prst="ellipse">
            <a:avLst/>
          </a:prstGeom>
          <a:solidFill>
            <a:srgbClr val="D98A1F"/>
          </a:solidFill>
          <a:ln w="6350">
            <a:solidFill>
              <a:srgbClr val="D98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27752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14984" y="2380488"/>
            <a:ext cx="219456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repeat(auto-fit, minmax(280px, 1fr))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64408" y="2380488"/>
            <a:ext cx="521208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dibuat secara dinamis mengikuti lebar layar tanpa kueri media tambahan. Kartu yang tidak muat turun ke baris berikutnya, sementara kartu di atasnya mengembang mengisi ruang secara merata.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553968"/>
            <a:ext cx="8138160" cy="1063752"/>
          </a:xfrm>
          <a:prstGeom prst="roundRect">
            <a:avLst>
              <a:gd name="adj" fmla="val 5158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" y="3948684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39486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14984" y="3553968"/>
            <a:ext cx="219456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@media (min-width: 768px)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64408" y="3553968"/>
            <a:ext cx="521208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ponsel berlayar sempit dashboard memakai satu kolom bertumpuk. Mulai lebar 768px aturan ini aktif dan mengubah layout menjadi dua kolom: sidebar selebar 250px dan konten utama fleksibel.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 dan Tugas Mandiri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konseptual tingkat analisis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praktik pemecahan masalah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PERTANYAAN KONSEPTUAL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Tingkat Tinggi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Komparatif Layout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unit pecahan fr dinilai lebih unggul dibanding persentase yang dikombinasikan dengan fungsi calc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pengaruh penanganan lebar sela pemisah terhadap perhitungan pada kedua metode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Desain Flexbox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item memiliki flex-grow bernilai satu, dua, dan satu, dengan sisa ruang kosong 200px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tambahan ruang piksel yang diperoleh masing-masing item dan jelaskan secara matematis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Integrasi Bootstrap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kaitan struktur row dan col terhadap properti margin dan padding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penulisan kolom di luar kontainer row dilarang keras dan apa dampak visualnya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TUGAS PRAKTIK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 Jurnal Ilmiah Multi-Kolom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163824" cy="3410712"/>
          </a:xfrm>
          <a:prstGeom prst="roundRect">
            <a:avLst>
              <a:gd name="adj" fmla="val 1734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tugas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87121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 diminta membuat prototipe antarmuka portal jurnal ilmiah fakultas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wajib memiliki bilah navigasi dinamis dan susunan tiga kolom pada layar lebar yang merapat menjadi satu kolom pada ponsel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9624" y="120700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persyaratan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9624" y="1499616"/>
            <a:ext cx="4791456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04-tugas-tata-letak.html dan hubungkan dengan 04-tugas-style.css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Integrasikan Bootstrap 5 melalui CDN dengan atribut integrity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header navigasi dari Flexbox murni, dengan tautan yang merapat vertikal pada mode ponsel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Susun layout utama dengan CSS Grid kustom: sidebar 200px, daftar artikel fleksibel, dan kolom kanan 220px pada layar mulai 992px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layar tablet kolom kanan bersembunyi atau turun ke bawah, dan pada ponsel seluruh layout bertumpuk satu kolom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kolom tengah, susun kartu artikel Bootstrap dalam grid mikro menggunakan repeat auto-fit dan minmax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1323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 MODUL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9875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Rangkuman Modul 4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Evolusi Layout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tabel, float, dan inline-block digantikan modul yang memang dirancang untuk mengelola ruang layar.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74036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0340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20340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Mengatur distribusi item pada satu sumbu, ideal untuk navigasi dan susunan linear.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91456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Mengendalikan baris dan kolom sekaligus, ideal untuk layout makro dan galeri.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16268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2572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Responsif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62572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bergaya mobile-first dan grid dua belas kolom Bootstrap menyesuaikan tampilan antar perangkat.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berikutnya: Pemrograman Sisi Server dengan PHP Modern.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Website — Modul 4</dc:title>
  <dc:subject>PptxGenJS Presentation</dc:subject>
  <dc:creator>Departemen Teknik Informatika, Universitas Hasanuddin</dc:creator>
  <cp:lastModifiedBy>Departemen Teknik Informatika, Universitas Hasanuddin</cp:lastModifiedBy>
  <cp:revision>1</cp:revision>
  <dcterms:created xsi:type="dcterms:W3CDTF">2026-08-18T05:55:12Z</dcterms:created>
  <dcterms:modified xsi:type="dcterms:W3CDTF">2026-08-18T05:55:12Z</dcterms:modified>
</cp:coreProperties>
</file>