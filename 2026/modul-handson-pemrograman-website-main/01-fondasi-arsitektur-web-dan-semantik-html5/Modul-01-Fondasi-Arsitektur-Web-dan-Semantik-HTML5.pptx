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1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 Arsitektur Web dan Semantik HTML5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posisi modul sebagai gerbang mata kuliah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web, protokol HTTP, arsitektur client-server, dan rendering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W3C, aksesibilitas WCAG, dan markup ramah mesin pencari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halaman profil portofolio akademik yang semantis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konseptual dan tugas portal artikel ilmiah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dokumen yang dibangun pada modul ini menjadi fondasi bagi seluruh modul berikutnya.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1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keseluruhan mata kuliah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ekosistem web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komponen utama World Wide Web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Menguraikan siklus hidup request dan response pada HTTP serta HTTPS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peran klien dan server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tanggung jawab sisi klien dan sisi server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Memetakan pembagian kerja pada arsitektur aplikasi web modern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dokumen HTML5 semantik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elemen semantik yang tepat sesuai peran kontennya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Mengoptimalkan aksesibilitas dan penjelajahan mesin pencari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Memvalidasi dokumen 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validator standar W3C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kepatuhan terhadap spesifikasi sintaksis web global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Fondasi Struktur Didahulukan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adalah gerbang utama untuk memahami cara aplikasi web beroperasi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dokumen HTML5 semantik akan diberi gaya visual dengan CSS pada Modul 2 dan 3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yang sama ditata dengan sistem tata letak modern pada Modul 4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ini kemudian dimanipulasi secara dinamis oleh PHP, SQL, JavaScript, dan React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 bila diabaikan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gaya visual tidak berjalan optimal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Manipulasi logika web menjadi rapuh dan sulit dipelihara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tidak memenuhi standar industri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internet dan World Wide Web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HTTP dan HTTPS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client-server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rendering path dan elemen semantik HTML5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EKOSISTEM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dan World Wide Web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lapisan yang berbeda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adalah jaringan global komputer yang terhubung menggunakan protokol TCP/IP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Web adalah salah satu layanan aplikasi yang berjalan di atas infrastruktur internet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merupakan sistem informasi terdistribusi yang menghubungkan dokumen melalui tautan hypertext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0348" y="1207008"/>
            <a:ext cx="3570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pengenal sumber daya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70348" y="1499616"/>
            <a:ext cx="1499707" cy="688086"/>
          </a:xfrm>
          <a:prstGeom prst="roundRect">
            <a:avLst>
              <a:gd name="adj" fmla="val 664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5212" y="1499616"/>
            <a:ext cx="1389979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98071" y="1499616"/>
            <a:ext cx="1943009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setiap sumber daya web secara unik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70348" y="2279142"/>
            <a:ext cx="1499707" cy="688086"/>
          </a:xfrm>
          <a:prstGeom prst="roundRect">
            <a:avLst>
              <a:gd name="adj" fmla="val 664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5212" y="2279142"/>
            <a:ext cx="1389979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98071" y="2279142"/>
            <a:ext cx="1943009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dokumen satu dengan lainnya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070348" y="3058668"/>
            <a:ext cx="1499707" cy="688086"/>
          </a:xfrm>
          <a:prstGeom prst="roundRect">
            <a:avLst>
              <a:gd name="adj" fmla="val 664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5212" y="3058668"/>
            <a:ext cx="1389979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98071" y="3058668"/>
            <a:ext cx="1943009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standar pengiriman data antar mesin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70348" y="3838194"/>
            <a:ext cx="1499707" cy="688086"/>
          </a:xfrm>
          <a:prstGeom prst="roundRect">
            <a:avLst>
              <a:gd name="adj" fmla="val 664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5212" y="3838194"/>
            <a:ext cx="1389979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98071" y="3838194"/>
            <a:ext cx="1943009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 pengguna yang meminta dan merender dokumen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PROTOKOL HTTP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Siklus Hidup Request dan Response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477012"/>
          </a:xfrm>
          <a:prstGeom prst="roundRect">
            <a:avLst>
              <a:gd name="adj" fmla="val 1150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30835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3083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1207008"/>
            <a:ext cx="219456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1207008"/>
            <a:ext cx="5212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menerjemahkan nama domain menjadi alamat IP numerik melalui sistem Domain Name System.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93748"/>
            <a:ext cx="8138160" cy="477012"/>
          </a:xfrm>
          <a:prstGeom prst="roundRect">
            <a:avLst>
              <a:gd name="adj" fmla="val 11502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1895094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8950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1793748"/>
            <a:ext cx="219456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1793748"/>
            <a:ext cx="5212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dibuka melalui proses three-way handshake. Pada HTTPS, negosiasi kunci enkripsi TLS dijalankan segera setelah koneksi terbentuk.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80488"/>
            <a:ext cx="8138160" cy="477012"/>
          </a:xfrm>
          <a:prstGeom prst="roundRect">
            <a:avLst>
              <a:gd name="adj" fmla="val 1150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248183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24818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2380488"/>
            <a:ext cx="219456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2380488"/>
            <a:ext cx="5212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 mengirimkan pesan permintaan terstruktur berisi metode, URI, header, dan badan pesan bila diperlukan.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967228"/>
            <a:ext cx="8138160" cy="477012"/>
          </a:xfrm>
          <a:prstGeom prst="roundRect">
            <a:avLst>
              <a:gd name="adj" fmla="val 11502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" y="3068574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3068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14984" y="2967228"/>
            <a:ext cx="219456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64408" y="2967228"/>
            <a:ext cx="5212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mencocokkan URI dengan routing, mengeksekusi logika bisnis, berinteraksi dengan basis data, lalu menghasilkan keluaran.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53968"/>
            <a:ext cx="8138160" cy="477012"/>
          </a:xfrm>
          <a:prstGeom prst="roundRect">
            <a:avLst>
              <a:gd name="adj" fmla="val 1150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" y="365531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3655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14984" y="3553968"/>
            <a:ext cx="219456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64408" y="3553968"/>
            <a:ext cx="5212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mengembalikan status, header, dan badan pesan berupa dokumen HTML, JSON, atau XML.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140708"/>
            <a:ext cx="8138160" cy="477012"/>
          </a:xfrm>
          <a:prstGeom prst="roundRect">
            <a:avLst>
              <a:gd name="adj" fmla="val 11502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" y="4242054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42420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4984" y="4140708"/>
            <a:ext cx="219456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64408" y="4140708"/>
            <a:ext cx="5212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ditutup, atau dipertahankan terbuka melalui header keep-alive untuk permintaan aset berikutnya.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KEAMANAN TRANSPORT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dan HTTPS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pertukaran data utama pada lapisan aplikasi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stateless: server tidak menyimpan riwayat keadaan antar request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pada port 80 secara bawaan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dikirim dalam bentuk teks yang dapat dibaca bila disadap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HTTP yang dienkripsi menggunakan TLS atau SSL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Melindungi integritas dan kerahasiaan data selama transit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pada port 443 secara bawaan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penyadapan dan serangan Man-in-the-Middle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stateless HTTP inilah yang kelak melahirkan kebutuhan mekanisme session dan cookie pada modul pemrograman sisi server.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ARSITEKTUR CLIENT-SERVER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Pembagian Peran Dua Sisi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(Front-End)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pada perangkat pengguna akhir, biasanya berupa web browser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Meminta dokumen dari server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Menginterpretasikan kode HTML, CSS, dan JavaScript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Document Object Model dan merender antarmuka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(Back-End)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Mendengarkan permintaan masuk pada port 80 atau 443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lunak server web seperti Apache dan Nginx memproses permintaan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Mengeksekusi logika server-side dengan PHP, Node.js, atau Python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Berinteraksi dengan RDBMS lalu mengembalikan berkas ke klien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RENDERING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Rendering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engine seperti Blink pada Chrome dan Gecko pada Firefox memproses berkas HTML melalui tahapan berikut.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788566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7885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4984" y="1719072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dan Tokenization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1719072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data mentah diubah menjadi karakter teks sesuai encoding, lalu dipecah menjadi token seperti start tag, end tag, dan atribut.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42109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311603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3116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4984" y="2242109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Tree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2242109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dikonversi menjadi objek Node, kemudian dihubungkan dalam struktur pohon hierarkis yang merepresentasikan struktur logis dokumen.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765146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2834640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" y="2765146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CSSOM Tree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4408" y="2765146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paralel browser mem-parsing berkas CSS untuk membangun CSS Object Model.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88182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" y="3357677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3357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4984" y="3288182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Tree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64408" y="3288182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Tree dan CSSOM Tree digabungkan menjadi Render Tree yang hanya memuat node visual yang akan tampil di layar.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811219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388071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38807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4984" y="3811219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dan Painting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64408" y="3811219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serta ukuran pasti setiap elemen dihitung, kemudian piksel elemen digambar ke layar melalui proses rasterisasi.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menyediakan antarmuka pemrograman sehingga JavaScript dapat mengubah struktur, gaya, dan konten dokumen secara dinamis.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ELEMEN SEMANTIK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 Semantik Utama HTML5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semantik mendeskripsikan arti dan peran konten secara eksplisit kepada browser, mesin pencari, maupun teknologi asistif.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0"/>
              </a:tblGrid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tata letak halaman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pengantar atau navigasi kelompok, sering memuat logo, judul situs, atau formulir pencarian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Blok tautan navigasi utama situs atau halaman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Konten utama dan unik dokumen, hanya boleh ada satu elemen yang tidak tersembunyi per halaman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Pengelompokan konten tematik generik, biasanya diawali sebuah elemen heading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Komposisi mandiri yang dapat didistribusikan independen, seperti postingan blog atau kartu produk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Konten sampingan yang berhubungan tidak langsung dengan konten utama, seperti sidebar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Kaki dokumen berisi hak cipta, kebijakan privasi, kontak, atau navigasi sekunder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W3C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Aksesibilitas WCAG 2.1 dan peran ARIA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ramah mesin pencari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VALIDASI W3C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Keuntungan Dokumen yang Valid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162431"/>
          </a:xfrm>
          <a:prstGeom prst="roundRect">
            <a:avLst>
              <a:gd name="adj" fmla="val 472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Compatibility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63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dirender secara konsisten di berbagai browser modern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162431"/>
          </a:xfrm>
          <a:prstGeom prst="roundRect">
            <a:avLst>
              <a:gd name="adj" fmla="val 472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Keterbacaan Kode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63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debugging dan pemeliharaan kode oleh tim pengembang menjadi lebih mudah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162431"/>
          </a:xfrm>
          <a:prstGeom prst="roundRect">
            <a:avLst>
              <a:gd name="adj" fmla="val 472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Bug Rendering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63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tidak perlu mengaktifkan quirks mode yang dapat merusak tata letak visual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menetapkan spesifikasi formal HTML. Kepatuhan menjamin dokumen ditulis dengan sintaksis yang benar.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AKSESIBILITAS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WCAG 2.1 dan Peran ARIA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1404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Kewajiban pengembang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14040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elemen semantis yang tepat agar teknologi asistif memperoleh struktur logis bawaan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Menyertakan atribut alt yang mendeskripsikan tujuan visual gambar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kontras warna teks yang memadai terhadap latar belakang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26203" y="1207008"/>
            <a:ext cx="3814877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2507" y="1307592"/>
            <a:ext cx="35222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ARIA digunakan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507" y="1627632"/>
            <a:ext cx="352226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seperti aria-label, aria-hidden, dan role dipakai hanya ketika elemen semantik natif HTML tidak mampu memenuhi kebutuhan interaksi yang kompleks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natif selalu menjadi pilihan pertama karena telah membawa makna bawaan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SEO-FRIENDLY MARKUP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Membantu Crawler Memahami Halaman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602105"/>
          </a:xfrm>
          <a:prstGeom prst="roundRect">
            <a:avLst>
              <a:gd name="adj" fmla="val 342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dari elemen semantik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107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main, article, dan section menandai konten editorial utama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aside menandai konten sampingan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footer menandai informasi hak cipta dan navigasi sekunder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602105"/>
          </a:xfrm>
          <a:prstGeom prst="roundRect">
            <a:avLst>
              <a:gd name="adj" fmla="val 3424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Hierarki heading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107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h1 hingga h6 digunakan secara berurutan untuk menggambarkan outline konten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ideal hanya memiliki satu h1 utama yang mendeskripsikan topik keseluruhan halaman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seperti Googlebot menjelajahi web dan mengindeks halaman berdasarkan arsitektur informasi yang tersirat dari markup.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profil portofolio akademik mahasiswa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Dokumen dan Bagian Header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index.html di dalam direktori proyek Anda, lalu susun kerangka dokumen berikut.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DEKLARASI DAN HEADER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lang="id"&gt;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name="viewport" content="width=device-width, initial-scale=1.0"&gt;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name="description" content="Profil akademik dan portofolio mahasiswa."&gt;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&lt;title&gt;Profil Akademik &amp;amp; Portofolio - Muhammad Akbar&lt;/title&gt;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&lt;header&gt;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&lt;div&gt;&lt;strong&gt;Akbar.Dev&lt;/strong&gt;&lt;/div&gt;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&lt;nav&gt;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&lt;ul&gt;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&lt;li&gt;&lt;a href="#tentang"&gt;Tentang Saya&lt;/a&gt;&lt;/li&gt;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&lt;li&gt;&lt;a href="#akademik"&gt;Akademik&lt;/a&gt;&lt;/li&gt;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&lt;li&gt;&lt;a href="#proyek"&gt;Portofolio Proyek&lt;/a&gt;&lt;/li&gt;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&lt;/ul&gt;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&lt;/nav&gt;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&lt;/header&gt;</a:t>
            </a:r>
            <a:endParaRPr lang="en-US" sz="86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Konten Utama dan Konten Sampingan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MAIN, SECTION, ARTICLE, ASIDE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&lt;section id="tentang"&gt;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&lt;h1&gt;Profil Akademik &amp;amp; Portofolio Profesional&lt;/h1&gt;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&lt;article&gt;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&lt;h2&gt;Tentang Saya&lt;/h2&gt;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&lt;p&gt;Mahasiswa &lt;em&gt;Teknik Informatika&lt;/em&gt; yang berfokus pada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pengembangan aplikasi web modern.&lt;/p&gt;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&lt;/article&gt;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&lt;/section&gt;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&lt;section id="proyek"&gt;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&lt;h2&gt;Proyek Mandiri Terbaru&lt;/h2&gt;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&lt;article&gt;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&lt;h3&gt;Aplikasi E-Library Kampus&lt;/h3&gt;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&lt;p&gt;&lt;a href="https://github.com/akbar/e-library"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target="_blank" rel="noopener noreferrer"&gt;Lihat Kode Sumber&lt;/a&gt;&lt;/p&gt;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&lt;/article&gt;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&lt;/section&gt;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&lt;aside&gt;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&lt;h2&gt;Keahlian Teknis&lt;/h2&gt;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&lt;ul&gt;&lt;li&gt;HTML5 Semantik &amp;amp; Web Accessibility&lt;/li&gt;&lt;/ul&gt;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&lt;/aside&gt;</a:t>
            </a:r>
            <a:endParaRPr lang="en-US" sz="764" dirty="0"/>
          </a:p>
          <a:p>
            <a:pPr indent="0" marL="0">
              <a:lnSpc>
                <a:spcPts val="993"/>
              </a:lnSpc>
              <a:buNone/>
            </a:pPr>
            <a:r>
              <a:rPr lang="en-US" sz="7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7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Baris Kode Krusial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03520"/>
              </a:tblGrid>
              <a:tr h="2583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dokumen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2583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&lt;!DOCTYPE html&gt;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Memaksa rendering engine browser menggunakan standards mode, bukan quirks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3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&lt;html lang="id"&gt;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Menentukan bahasa utama dokumen agar screen reader melafalkan teks dengan intonasi yang tepat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2583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&lt;meta charset="UTF-8"&gt;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Mendefinisikan encoding karakter sehingga hampir semua sistem tulisan dunia terbaca dengan benar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3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&lt;meta name="viewport"&gt;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Menyesuaikan lebar viewport dengan lebar layar perangkat, gerbang utama situs responsif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2583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&lt;main&gt;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Membungkus konten unik halaman, membedakannya dari header dan footer global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3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&lt;article&gt;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Menandai konten mandiri yang dapat dipindahkan ke sistem agregasi lain tanpa kehilangan makna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2583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rel="noopener noreferrer"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Mencegah halaman baru mengeksploitasi objek window.opener, melindungi dari serangan tabnabbing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739646"/>
          </a:xfrm>
          <a:prstGeom prst="roundRect">
            <a:avLst>
              <a:gd name="adj" fmla="val 315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Siklus Hidup HTTP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20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Uraikan tahapan yang dilalui sejak alamat diketik hingga halaman tampil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konsekuensi sifat stateless terhadap perancangan aplikasi web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739646"/>
          </a:xfrm>
          <a:prstGeom prst="roundRect">
            <a:avLst>
              <a:gd name="adj" fmla="val 3154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Elemen Semantik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20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halaman yang dibangun dengan div generik dan dengan elemen semantik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dampaknya terhadap aksesibilitas serta pengindeksan mesin pencari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739646"/>
          </a:xfrm>
          <a:prstGeom prst="roundRect">
            <a:avLst>
              <a:gd name="adj" fmla="val 315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Browser Rendering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20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DOM dan CSSOM dibangun secara terpisah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akibatnya bila berkas CSS berukuran besar dimuat di awal dokumen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Artikel Ilmiah Berstandar W3C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diminta membuat berkas struktur halaman utama portal publikasi artikel ilmiah mahasiswa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harus kaya konten namun tetap terbaca oleh mesin pencari dan pengguna dengan keterbatasan visual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12387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12387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harus valid menurut W3C HTML5 validator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minimal satu header, satu nav, satu main, tiga section yang masing-masing memuat minimal dua article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Sertakan satu aside berisi daftar jurnal eksternal dan satu footer berisi lisensi Creative Commons serta kontak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kode entitas HTML secara tepat untuk karakter khusus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tautan ke portal eksternal dengan atribut keamanan rel yang tepat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dengan nama 01-tugas-arsitektur-dan-semantik.html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Web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adalah layanan terdistribusi di atas infrastruktur internet, dengan URL sebagai pengenal unik sumber daya.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HTTP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request dan response berjalan stateless, dari DNS lookup hingga penutupan koneksi.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membangun DOM dan CSSOM, menggabungkannya menjadi Render Tree, lalu melakukan layout dan painting.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Semantik HTML5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semantik memberi makna eksplisit kepada browser, mesin pencari, dan teknologi asistif.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Standardisasi Kode dan Pengorganisasian Konten.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1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2026-08-18T05:52:12Z</dcterms:created>
  <dcterms:modified xsi:type="dcterms:W3CDTF">2026-08-18T05:52:12Z</dcterms:modified>
</cp:coreProperties>
</file>