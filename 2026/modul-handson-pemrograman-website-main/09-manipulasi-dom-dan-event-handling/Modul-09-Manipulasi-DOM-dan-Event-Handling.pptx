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7952" y="566928"/>
            <a:ext cx="768096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66420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31520" y="193852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Pemrograman Website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2542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E4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 9</a:t>
            </a:r>
            <a:endParaRPr lang="en-US" sz="17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E4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Manipulasi Document Object Model dan Event Handling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31520" y="395020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Departemen Teknik Informatika, Fakultas Teknik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Hasanuddin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MATERI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Pembahasan Modul 9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9224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Pendahuluan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9224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 dan jembatan antara logika JavaScript dengan elemen visual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63470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09774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309774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Teoritis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09774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Tree, metode seleksi, manipulasi elemen, dan perambatan kejadian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24021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0325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970325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Standardisasi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970325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Pemisahan logika dan keamanan manipulasi DOM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4571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30875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630875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30875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Formulir validasi mahasiswa dengan daftar dinamis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45122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91426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291426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291426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perambatan kejadian dan tugas pengelola daftar tugas kuliah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ini memberi jembatan agar skrip JavaScript dapat berinteraksi aktif dengan dokumen HTML.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Pendahuluan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 Modul 9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Relevansi terhadap kontrol antarmuka lanjut dan React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CAPAIAN PEMBELAJARAN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Kemampuan Akhir yang Diharapkan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Menganalisis pohon hierarki DOM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struktur objek yang dibangun peramban dari dokumen HTML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Memetakan hubungan antara tag, atribut, dan teks menjadi simpul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54296" y="120700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Membandingkan metode seleksi elemen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00600" y="162763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Menilai efisiensi getElementById, querySelector, dan querySelectorAll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perbedaan antara HTMLCollection dan NodeList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75386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285445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Merancang manipulasi elemen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" y="317449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Mengubah konten, atribut, dan struktur secara dinamis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penanganan kejadian melalui addEventListener sesuai standar industri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54296" y="275386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85445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Mengontrol perambatan kejadian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317449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Menganalisis fase capturing dan bubbling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Mengimplementasikan teknik event delegation untuk optimasi memori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RELEVANSI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Menghubungkan Logika dengan Elemen Visual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6286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Posisi dalam alur mata kuliah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4628693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Logika pemrograman JavaScript dari Modul 8 kini dihubungkan dengan elemen visual di layar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ini memberi jembatan agar skrip dapat berinteraksi secara aktif dengan dokumen HTML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Penguasaan manipulasi objek DOM dan penanganan event menjadi prasyarat sebelum kontrol antarmuka tingkat lanjut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14493" y="1207008"/>
            <a:ext cx="3326587" cy="3410712"/>
          </a:xfrm>
          <a:prstGeom prst="roundRect">
            <a:avLst>
              <a:gd name="adj" fmla="val 164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60797" y="1307592"/>
            <a:ext cx="30339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 ke Modul Lain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60797" y="1627632"/>
            <a:ext cx="3033979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10: animasi CSS dinamis dan paginasi data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11: arsitektur reaktif berbasis komponen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Konsep Teoritis dan Arsitektur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Representasi DOM Tree di peramban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seleksi elemen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Manipulasi konten, atribut, dan struktur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handling dan event propagation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DOM TREE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Dokumen HTML sebagai Pohon Objek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3845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terbentuknya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438454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Peramban mengonversi dokumen HTML mentah menjadi representasi objek terstruktur berhierarki pohon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tag, atribut, dan teks dipetakan menjadi objek simpul di dalam pohon tersebut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Melalui DOM API, JavaScript dapat mengakses, menambah, menghapus, atau mengubah elemen secara real-time tanpa memuat ulang halaman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70348" y="1207008"/>
            <a:ext cx="35707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ILUSTRASI HIERARKI SIMPUL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70348" y="1426464"/>
            <a:ext cx="3570732" cy="3191256"/>
          </a:xfrm>
          <a:prstGeom prst="roundRect">
            <a:avLst>
              <a:gd name="adj" fmla="val 1719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80076" y="1499616"/>
            <a:ext cx="3351276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└── html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head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│     └── title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│           └── #text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 body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├── header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│     └── h1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└── main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├── section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└── table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└── tbody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└── tr → td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DOM SELECTION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Metode Seleksi Elemen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memanipulasi elemen, kita harus menyeleksinya terlebih dahulu dari pohon dokumen.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45336"/>
          <a:ext cx="81381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21208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Nilai kembalian dan karakteristiknya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getElementById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 tunggal dengan atribut id yang cocok. Sangat cepat karena peramban mengindeks ID secara unik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getElementsByClassName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Objek HTMLCollection berisi semua elemen anak yang memiliki kelas CSS terkait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querySelector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 tunggal pertama yang cocok dengan pemilih CSS. Sangat fleksibel namun sedikit lebih lambat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querySelectorAll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Objek NodeList statis berisi semua elemen yang cocok dengan pemilih CSS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DOM SELECTION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HTMLCollection dan NodeList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77640" cy="3410712"/>
          </a:xfrm>
          <a:prstGeom prst="roundRect">
            <a:avLst>
              <a:gd name="adj" fmla="val 160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HTMLCollection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68503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Bersifat hidup: isi koleksi otomatis diperbarui bila struktur dokumen di bawahnya berubah setelah seleksi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menampung objek elemen HTML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memiliki metode iterasi bawaan sehingga perlu dikonversi lebih dahulu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207008"/>
            <a:ext cx="3977640" cy="3410712"/>
          </a:xfrm>
          <a:prstGeom prst="roundRect">
            <a:avLst>
              <a:gd name="adj" fmla="val 160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9744" y="130759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NodeList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9744" y="1627632"/>
            <a:ext cx="368503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Bersifat statis pada hasil querySelectorAll, perubahan dokumen setelah seleksi tidak memperbarui isinya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 menampung elemen, teks, maupun komentar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Memiliki metode iterasi bawaan sehingga dapat langsung ditelusuri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MANIPULASI ELEMEN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Kelompok Operasi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602992" cy="2179320"/>
          </a:xfrm>
          <a:prstGeom prst="roundRect">
            <a:avLst>
              <a:gd name="adj" fmla="val 251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Mengubah konten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310384" cy="1648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textContent membaca atau menulis teks mentah dan mencegah parsing kode di dalamnya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innerHTML menulis konten beserta tagnya sehingga markup diparsing ulang oleh peramban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70504" y="1207008"/>
            <a:ext cx="2602992" cy="2179320"/>
          </a:xfrm>
          <a:prstGeom prst="roundRect">
            <a:avLst>
              <a:gd name="adj" fmla="val 2517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6808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Mengubah atribut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16808" y="1627632"/>
            <a:ext cx="2310384" cy="1648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setAttribute menetapkan nilai atribut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getAttribute membaca nilainya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removeAttribute menghapus atribut dari elemen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8088" y="1207008"/>
            <a:ext cx="2602992" cy="2179320"/>
          </a:xfrm>
          <a:prstGeom prst="roundRect">
            <a:avLst>
              <a:gd name="adj" fmla="val 251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4392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Mengubah struktur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84392" y="1627632"/>
            <a:ext cx="2310384" cy="1648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createElement membuat simpul baru di memori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appendChild menyisipkan simpul anak di bagian akhir induk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insertBefore menyisipkan tepat sebelum simpul acuan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menghapus elemen dari dokumen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 innerHTML harus digunakan dengan sangat hati-hati karena membuka celah serangan lintas situs.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EVENT HANDLING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Cara Memasang Penanganan Kejadian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adalah sinyal kejadian yang dipicu oleh tindakan pengguna atau perubahan status peramban.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527048"/>
            <a:ext cx="8138160" cy="957072"/>
          </a:xfrm>
          <a:prstGeom prst="roundRect">
            <a:avLst>
              <a:gd name="adj" fmla="val 5732"/>
            </a:avLst>
          </a:prstGeom>
          <a:solidFill>
            <a:srgbClr val="E8EFF6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" y="1868424"/>
            <a:ext cx="274320" cy="274320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" y="1868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14984" y="1527048"/>
            <a:ext cx="2194560" cy="957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Event Handler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64408" y="1527048"/>
            <a:ext cx="5212080" cy="957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Menuliskan kode JavaScript langsung pada atribut tag HTML. Cara ini buruk karena melanggar prinsip pemisahan kode antara struktur dan logika.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593848"/>
            <a:ext cx="8138160" cy="957072"/>
          </a:xfrm>
          <a:prstGeom prst="roundRect">
            <a:avLst>
              <a:gd name="adj" fmla="val 5732"/>
            </a:avLst>
          </a:prstGeom>
          <a:solidFill>
            <a:srgbClr val="F3F7F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" y="2935224"/>
            <a:ext cx="274320" cy="274320"/>
          </a:xfrm>
          <a:prstGeom prst="ellipse">
            <a:avLst/>
          </a:prstGeom>
          <a:solidFill>
            <a:srgbClr val="D98A1F"/>
          </a:solidFill>
          <a:ln w="6350">
            <a:solidFill>
              <a:srgbClr val="D98A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2935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14984" y="2593848"/>
            <a:ext cx="2194560" cy="957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Property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64408" y="2593848"/>
            <a:ext cx="5212080" cy="957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Mengisi properti event pada objek elemen. Kelemahannya, hanya satu fungsi callback yang dapat dipasang untuk satu jenis event.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660648"/>
            <a:ext cx="8138160" cy="957072"/>
          </a:xfrm>
          <a:prstGeom prst="roundRect">
            <a:avLst>
              <a:gd name="adj" fmla="val 5732"/>
            </a:avLst>
          </a:prstGeom>
          <a:solidFill>
            <a:srgbClr val="E8EFF6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" y="4002024"/>
            <a:ext cx="274320" cy="274320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" y="4002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4984" y="3660648"/>
            <a:ext cx="2194560" cy="957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addEventListener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64408" y="3660648"/>
            <a:ext cx="5212080" cy="957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 industri modern yang memungkinkan pemasangan beberapa listener berbeda untuk satu event yang sama pada satu elemen.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EVENT PROPAGATION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Fase Perambatan Kejadian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Ketika event dipicu, ia tidak berhenti di elemen target melainkan menjalar melalui tiga fase berurutan.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527048"/>
            <a:ext cx="8138160" cy="826008"/>
          </a:xfrm>
          <a:prstGeom prst="roundRect">
            <a:avLst>
              <a:gd name="adj" fmla="val 6642"/>
            </a:avLst>
          </a:prstGeom>
          <a:solidFill>
            <a:srgbClr val="E8EFF6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" y="1802892"/>
            <a:ext cx="274320" cy="274320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" y="18028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14984" y="1527048"/>
            <a:ext cx="2194560" cy="826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 Phase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64408" y="1527048"/>
            <a:ext cx="5212080" cy="826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menjalar turun dari tingkat terluar dokumen, melewati elemen induk, hingga mencapai elemen target.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462784"/>
            <a:ext cx="8138160" cy="826008"/>
          </a:xfrm>
          <a:prstGeom prst="roundRect">
            <a:avLst>
              <a:gd name="adj" fmla="val 6642"/>
            </a:avLst>
          </a:prstGeom>
          <a:solidFill>
            <a:srgbClr val="F3F7F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" y="2738628"/>
            <a:ext cx="274320" cy="274320"/>
          </a:xfrm>
          <a:prstGeom prst="ellipse">
            <a:avLst/>
          </a:prstGeom>
          <a:solidFill>
            <a:srgbClr val="D98A1F"/>
          </a:solidFill>
          <a:ln w="6350">
            <a:solidFill>
              <a:srgbClr val="D98A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27386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14984" y="2462784"/>
            <a:ext cx="2194560" cy="826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Phase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64408" y="2462784"/>
            <a:ext cx="5212080" cy="826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dieksekusi langsung pada elemen target tempat kejadian dipicu.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398520"/>
            <a:ext cx="8138160" cy="826008"/>
          </a:xfrm>
          <a:prstGeom prst="roundRect">
            <a:avLst>
              <a:gd name="adj" fmla="val 6642"/>
            </a:avLst>
          </a:prstGeom>
          <a:solidFill>
            <a:srgbClr val="E8EFF6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" y="3674364"/>
            <a:ext cx="274320" cy="274320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" y="36743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4984" y="3398520"/>
            <a:ext cx="2194560" cy="826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Bubbling Phase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64408" y="3398520"/>
            <a:ext cx="5212080" cy="826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bawaan. Event menjalar naik kembali dari elemen target melewati induknya hingga mencapai tingkat dokumen.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Perambatan ini dapat dihentikan sewaktu-waktu menggunakan metode stopPropagation pada objek event.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 EVENT DELEGATION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Listener untuk Ratusan Elemen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3845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kerjanya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438454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Memasang ratusan listener pada setiap elemen anak secara individual memakan banyak memori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Sebagai gantinya, cukup pasang satu listener pada elemen induknya dengan memanfaatkan fase bubbling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Ketika event dipicu pada elemen anak, event akan naik ke induk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induk mendeteksi elemen asal melalui properti target pada objek event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70348" y="1207008"/>
            <a:ext cx="3570732" cy="3410712"/>
          </a:xfrm>
          <a:prstGeom prst="roundRect">
            <a:avLst>
              <a:gd name="adj" fmla="val 160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6652" y="1307592"/>
            <a:ext cx="3278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Keuntungan tambahan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6652" y="1627632"/>
            <a:ext cx="327812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anak yang dibuat secara dinamis setelah halaman dimuat tetap tertangani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perlu memasang ulang listener setiap kali elemen baru disisipkan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Standardisasi dan Best Practices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Pemisahan logika dari struktur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 manipulasi DOM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BEST PRACTICES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Disiplin Wajib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86784" cy="1780794"/>
          </a:xfrm>
          <a:prstGeom prst="roundRect">
            <a:avLst>
              <a:gd name="adj" fmla="val 3081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694176" cy="125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Pastikan berkas HTML bersih dari instruksi logika JavaScript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pendengar kejadian wajib dideklarasikan di dalam berkas skrip eksternal menggunakan addEventListener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54296" y="1207008"/>
            <a:ext cx="3986784" cy="1780794"/>
          </a:xfrm>
          <a:prstGeom prst="roundRect">
            <a:avLst>
              <a:gd name="adj" fmla="val 3081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 manipulasi DOM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627632"/>
            <a:ext cx="3694176" cy="125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Hindari innerHTML bila Anda hanya bermaksud menampilkan teks biasa dari masukan pengguna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textContent agar teks tidak dievaluasi sebagai tag kode aktif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ini mencegah celah serangan lintas situs berbasis DOM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Implementasi Praktis dan Studi Kasus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Formulir validasi mahasiswa dengan daftar dinamis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Pembahasan baris kode krusial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Kerangka Formulir dan Tabel Tujuan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berkas dom-lab.html berisi formulir input di kolom kiri dan tabel penampung data di kolom kanan.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52704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DOM-LAB.HTML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746504"/>
            <a:ext cx="8138160" cy="2871216"/>
          </a:xfrm>
          <a:prstGeom prst="roundRect">
            <a:avLst>
              <a:gd name="adj" fmla="val 1911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819656"/>
            <a:ext cx="791870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88"/>
              </a:lnSpc>
              <a:buNone/>
            </a:pPr>
            <a:r>
              <a:rPr lang="en-US" sz="68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id="studentForm"&gt;</a:t>
            </a:r>
            <a:endParaRPr lang="en-US" sz="683" dirty="0"/>
          </a:p>
          <a:p>
            <a:pPr indent="0" marL="0">
              <a:lnSpc>
                <a:spcPts val="888"/>
              </a:lnSpc>
              <a:buNone/>
            </a:pPr>
            <a:r>
              <a:rPr lang="en-US" sz="68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class="mb-3"&gt;</a:t>
            </a:r>
            <a:endParaRPr lang="en-US" sz="683" dirty="0"/>
          </a:p>
          <a:p>
            <a:pPr indent="0" marL="0">
              <a:lnSpc>
                <a:spcPts val="888"/>
              </a:lnSpc>
              <a:buNone/>
            </a:pPr>
            <a:r>
              <a:rPr lang="en-US" sz="68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&lt;label for="nim" class="form-label"&gt;NIM (10 Digit)&lt;/label&gt;</a:t>
            </a:r>
            <a:endParaRPr lang="en-US" sz="683" dirty="0"/>
          </a:p>
          <a:p>
            <a:pPr indent="0" marL="0">
              <a:lnSpc>
                <a:spcPts val="888"/>
              </a:lnSpc>
              <a:buNone/>
            </a:pPr>
            <a:r>
              <a:rPr lang="en-US" sz="68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&lt;input type="text" class="form-control" id="nim" required&gt;</a:t>
            </a:r>
            <a:endParaRPr lang="en-US" sz="683" dirty="0"/>
          </a:p>
          <a:p>
            <a:pPr indent="0" marL="0">
              <a:lnSpc>
                <a:spcPts val="888"/>
              </a:lnSpc>
              <a:buNone/>
            </a:pPr>
            <a:r>
              <a:rPr lang="en-US" sz="68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&lt;div id="nimError" class="error-message"&gt;&lt;/div&gt;</a:t>
            </a:r>
            <a:endParaRPr lang="en-US" sz="683" dirty="0"/>
          </a:p>
          <a:p>
            <a:pPr indent="0" marL="0">
              <a:lnSpc>
                <a:spcPts val="888"/>
              </a:lnSpc>
              <a:buNone/>
            </a:pPr>
            <a:r>
              <a:rPr lang="en-US" sz="68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683" dirty="0"/>
          </a:p>
          <a:p>
            <a:pPr indent="0" marL="0">
              <a:lnSpc>
                <a:spcPts val="888"/>
              </a:lnSpc>
              <a:buNone/>
            </a:pPr>
            <a:r>
              <a:rPr lang="en-US" sz="68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class="mb-3"&gt;</a:t>
            </a:r>
            <a:endParaRPr lang="en-US" sz="683" dirty="0"/>
          </a:p>
          <a:p>
            <a:pPr indent="0" marL="0">
              <a:lnSpc>
                <a:spcPts val="888"/>
              </a:lnSpc>
              <a:buNone/>
            </a:pPr>
            <a:r>
              <a:rPr lang="en-US" sz="68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&lt;label for="name" class="form-label"&gt;Nama Lengkap&lt;/label&gt;</a:t>
            </a:r>
            <a:endParaRPr lang="en-US" sz="683" dirty="0"/>
          </a:p>
          <a:p>
            <a:pPr indent="0" marL="0">
              <a:lnSpc>
                <a:spcPts val="888"/>
              </a:lnSpc>
              <a:buNone/>
            </a:pPr>
            <a:r>
              <a:rPr lang="en-US" sz="68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&lt;input type="text" class="form-control" id="name" required&gt;</a:t>
            </a:r>
            <a:endParaRPr lang="en-US" sz="683" dirty="0"/>
          </a:p>
          <a:p>
            <a:pPr indent="0" marL="0">
              <a:lnSpc>
                <a:spcPts val="888"/>
              </a:lnSpc>
              <a:buNone/>
            </a:pPr>
            <a:r>
              <a:rPr lang="en-US" sz="68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&lt;div id="nameError" class="error-message"&gt;&lt;/div&gt;</a:t>
            </a:r>
            <a:endParaRPr lang="en-US" sz="683" dirty="0"/>
          </a:p>
          <a:p>
            <a:pPr indent="0" marL="0">
              <a:lnSpc>
                <a:spcPts val="888"/>
              </a:lnSpc>
              <a:buNone/>
            </a:pPr>
            <a:r>
              <a:rPr lang="en-US" sz="68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683" dirty="0"/>
          </a:p>
          <a:p>
            <a:pPr indent="0" marL="0">
              <a:lnSpc>
                <a:spcPts val="888"/>
              </a:lnSpc>
              <a:buNone/>
            </a:pPr>
            <a:r>
              <a:rPr lang="en-US" sz="68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&lt;button type="submit" class="btn btn-primary w-100"&gt;Tambah&lt;/button&gt;</a:t>
            </a:r>
            <a:endParaRPr lang="en-US" sz="683" dirty="0"/>
          </a:p>
          <a:p>
            <a:pPr indent="0" marL="0">
              <a:lnSpc>
                <a:spcPts val="888"/>
              </a:lnSpc>
              <a:buNone/>
            </a:pPr>
            <a:r>
              <a:rPr lang="en-US" sz="68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683" dirty="0"/>
          </a:p>
          <a:p>
            <a:pPr indent="0" marL="0">
              <a:lnSpc>
                <a:spcPts val="888"/>
              </a:lnSpc>
              <a:buNone/>
            </a:pPr>
            <a:r>
              <a:rPr lang="en-US" sz="68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683" dirty="0"/>
          </a:p>
          <a:p>
            <a:pPr indent="0" marL="0">
              <a:lnSpc>
                <a:spcPts val="888"/>
              </a:lnSpc>
              <a:buNone/>
            </a:pPr>
            <a:r>
              <a:rPr lang="en-US" sz="68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</a:t>
            </a:r>
            <a:endParaRPr lang="en-US" sz="683" dirty="0"/>
          </a:p>
          <a:p>
            <a:pPr indent="0" marL="0">
              <a:lnSpc>
                <a:spcPts val="888"/>
              </a:lnSpc>
              <a:buNone/>
            </a:pPr>
            <a:r>
              <a:rPr lang="en-US" sz="68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&lt;thead&gt;</a:t>
            </a:r>
            <a:endParaRPr lang="en-US" sz="683" dirty="0"/>
          </a:p>
          <a:p>
            <a:pPr indent="0" marL="0">
              <a:lnSpc>
                <a:spcPts val="888"/>
              </a:lnSpc>
              <a:buNone/>
            </a:pPr>
            <a:r>
              <a:rPr lang="en-US" sz="68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&lt;tr&gt;&lt;th&gt;NIM&lt;/th&gt;&lt;th&gt;Nama&lt;/th&gt;&lt;th&gt;Aksi&lt;/th&gt;&lt;/tr&gt;</a:t>
            </a:r>
            <a:endParaRPr lang="en-US" sz="683" dirty="0"/>
          </a:p>
          <a:p>
            <a:pPr indent="0" marL="0">
              <a:lnSpc>
                <a:spcPts val="888"/>
              </a:lnSpc>
              <a:buNone/>
            </a:pPr>
            <a:r>
              <a:rPr lang="en-US" sz="68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&lt;/thead&gt;</a:t>
            </a:r>
            <a:endParaRPr lang="en-US" sz="683" dirty="0"/>
          </a:p>
          <a:p>
            <a:pPr indent="0" marL="0">
              <a:lnSpc>
                <a:spcPts val="888"/>
              </a:lnSpc>
              <a:buNone/>
            </a:pPr>
            <a:r>
              <a:rPr lang="en-US" sz="68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&lt;tbody id="studentTableBody"&gt;</a:t>
            </a:r>
            <a:endParaRPr lang="en-US" sz="683" dirty="0"/>
          </a:p>
          <a:p>
            <a:pPr indent="0" marL="0">
              <a:lnSpc>
                <a:spcPts val="888"/>
              </a:lnSpc>
              <a:buNone/>
            </a:pPr>
            <a:r>
              <a:rPr lang="en-US" sz="68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&lt;!-- Baris data dimasukkan secara dinamis di sini --&gt;</a:t>
            </a:r>
            <a:endParaRPr lang="en-US" sz="683" dirty="0"/>
          </a:p>
          <a:p>
            <a:pPr indent="0" marL="0">
              <a:lnSpc>
                <a:spcPts val="888"/>
              </a:lnSpc>
              <a:buNone/>
            </a:pPr>
            <a:r>
              <a:rPr lang="en-US" sz="68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&lt;/tbody&gt;</a:t>
            </a:r>
            <a:endParaRPr lang="en-US" sz="683" dirty="0"/>
          </a:p>
          <a:p>
            <a:pPr indent="0" marL="0">
              <a:lnSpc>
                <a:spcPts val="888"/>
              </a:lnSpc>
              <a:buNone/>
            </a:pPr>
            <a:r>
              <a:rPr lang="en-US" sz="68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</a:t>
            </a:r>
            <a:endParaRPr lang="en-US" sz="683" dirty="0"/>
          </a:p>
          <a:p>
            <a:pPr indent="0" marL="0">
              <a:lnSpc>
                <a:spcPts val="888"/>
              </a:lnSpc>
              <a:buNone/>
            </a:pPr>
            <a:r>
              <a:rPr lang="en-US" sz="68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683" dirty="0"/>
          </a:p>
          <a:p>
            <a:pPr indent="0" marL="0">
              <a:lnSpc>
                <a:spcPts val="888"/>
              </a:lnSpc>
              <a:buNone/>
            </a:pPr>
            <a:r>
              <a:rPr lang="en-US" sz="68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 src="./dom-app.js"&gt;&lt;/script&gt;</a:t>
            </a:r>
            <a:endParaRPr lang="en-US" sz="683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Seleksi Elemen dan Validasi Real-Time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berkas dom-app.js, lalu jalankan seluruh kode setelah pohon dokumen awal selesai dibangun.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52704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DOM-APP.JS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746504"/>
            <a:ext cx="8138160" cy="2871216"/>
          </a:xfrm>
          <a:prstGeom prst="roundRect">
            <a:avLst>
              <a:gd name="adj" fmla="val 1911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819656"/>
            <a:ext cx="791870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27"/>
              </a:lnSpc>
              <a:buNone/>
            </a:pPr>
            <a:r>
              <a:rPr lang="en-US" sz="71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 strict";</a:t>
            </a:r>
            <a:endParaRPr lang="en-US" sz="713" dirty="0"/>
          </a:p>
          <a:p>
            <a:pPr indent="0" marL="0">
              <a:lnSpc>
                <a:spcPts val="927"/>
              </a:lnSpc>
              <a:buNone/>
            </a:pPr>
            <a:r>
              <a:rPr lang="en-US" sz="71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13" dirty="0"/>
          </a:p>
          <a:p>
            <a:pPr indent="0" marL="0">
              <a:lnSpc>
                <a:spcPts val="927"/>
              </a:lnSpc>
              <a:buNone/>
            </a:pPr>
            <a:r>
              <a:rPr lang="en-US" sz="71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document.addEventListener("DOMContentLoaded", () =&gt; {</a:t>
            </a:r>
            <a:endParaRPr lang="en-US" sz="713" dirty="0"/>
          </a:p>
          <a:p>
            <a:pPr indent="0" marL="0">
              <a:lnSpc>
                <a:spcPts val="927"/>
              </a:lnSpc>
              <a:buNone/>
            </a:pPr>
            <a:r>
              <a:rPr lang="en-US" sz="71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1. DOM Selection</a:t>
            </a:r>
            <a:endParaRPr lang="en-US" sz="713" dirty="0"/>
          </a:p>
          <a:p>
            <a:pPr indent="0" marL="0">
              <a:lnSpc>
                <a:spcPts val="927"/>
              </a:lnSpc>
              <a:buNone/>
            </a:pPr>
            <a:r>
              <a:rPr lang="en-US" sz="71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studentForm      = document.getElementById("studentForm");</a:t>
            </a:r>
            <a:endParaRPr lang="en-US" sz="713" dirty="0"/>
          </a:p>
          <a:p>
            <a:pPr indent="0" marL="0">
              <a:lnSpc>
                <a:spcPts val="927"/>
              </a:lnSpc>
              <a:buNone/>
            </a:pPr>
            <a:r>
              <a:rPr lang="en-US" sz="71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nimInput         = document.getElementById("nim");</a:t>
            </a:r>
            <a:endParaRPr lang="en-US" sz="713" dirty="0"/>
          </a:p>
          <a:p>
            <a:pPr indent="0" marL="0">
              <a:lnSpc>
                <a:spcPts val="927"/>
              </a:lnSpc>
              <a:buNone/>
            </a:pPr>
            <a:r>
              <a:rPr lang="en-US" sz="71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nimError         = document.getElementById("nimError");</a:t>
            </a:r>
            <a:endParaRPr lang="en-US" sz="713" dirty="0"/>
          </a:p>
          <a:p>
            <a:pPr indent="0" marL="0">
              <a:lnSpc>
                <a:spcPts val="927"/>
              </a:lnSpc>
              <a:buNone/>
            </a:pPr>
            <a:r>
              <a:rPr lang="en-US" sz="71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studentTableBody = document.getElementById("studentTableBody");</a:t>
            </a:r>
            <a:endParaRPr lang="en-US" sz="713" dirty="0"/>
          </a:p>
          <a:p>
            <a:pPr indent="0" marL="0">
              <a:lnSpc>
                <a:spcPts val="927"/>
              </a:lnSpc>
              <a:buNone/>
            </a:pPr>
            <a:r>
              <a:rPr lang="en-US" sz="71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13" dirty="0"/>
          </a:p>
          <a:p>
            <a:pPr indent="0" marL="0">
              <a:lnSpc>
                <a:spcPts val="927"/>
              </a:lnSpc>
              <a:buNone/>
            </a:pPr>
            <a:r>
              <a:rPr lang="en-US" sz="71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2. Validasi real-time pada input NIM</a:t>
            </a:r>
            <a:endParaRPr lang="en-US" sz="713" dirty="0"/>
          </a:p>
          <a:p>
            <a:pPr indent="0" marL="0">
              <a:lnSpc>
                <a:spcPts val="927"/>
              </a:lnSpc>
              <a:buNone/>
            </a:pPr>
            <a:r>
              <a:rPr lang="en-US" sz="71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nimInput.addEventListener("input", () =&gt; {</a:t>
            </a:r>
            <a:endParaRPr lang="en-US" sz="713" dirty="0"/>
          </a:p>
          <a:p>
            <a:pPr indent="0" marL="0">
              <a:lnSpc>
                <a:spcPts val="927"/>
              </a:lnSpc>
              <a:buNone/>
            </a:pPr>
            <a:r>
              <a:rPr lang="en-US" sz="71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nimValue = nimInput.value.trim();</a:t>
            </a:r>
            <a:endParaRPr lang="en-US" sz="713" dirty="0"/>
          </a:p>
          <a:p>
            <a:pPr indent="0" marL="0">
              <a:lnSpc>
                <a:spcPts val="927"/>
              </a:lnSpc>
              <a:buNone/>
            </a:pPr>
            <a:r>
              <a:rPr lang="en-US" sz="71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13" dirty="0"/>
          </a:p>
          <a:p>
            <a:pPr indent="0" marL="0">
              <a:lnSpc>
                <a:spcPts val="927"/>
              </a:lnSpc>
              <a:buNone/>
            </a:pPr>
            <a:r>
              <a:rPr lang="en-US" sz="71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(nimValue &amp;&amp; !/^[0-9]{10}$/.test(nimValue)) {</a:t>
            </a:r>
            <a:endParaRPr lang="en-US" sz="713" dirty="0"/>
          </a:p>
          <a:p>
            <a:pPr indent="0" marL="0">
              <a:lnSpc>
                <a:spcPts val="927"/>
              </a:lnSpc>
              <a:buNone/>
            </a:pPr>
            <a:r>
              <a:rPr lang="en-US" sz="71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nimError.textContent = "NIM wajib 10 digit angka.";</a:t>
            </a:r>
            <a:endParaRPr lang="en-US" sz="713" dirty="0"/>
          </a:p>
          <a:p>
            <a:pPr indent="0" marL="0">
              <a:lnSpc>
                <a:spcPts val="927"/>
              </a:lnSpc>
              <a:buNone/>
            </a:pPr>
            <a:r>
              <a:rPr lang="en-US" sz="71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nimInput.classList.add("is-invalid");</a:t>
            </a:r>
            <a:endParaRPr lang="en-US" sz="713" dirty="0"/>
          </a:p>
          <a:p>
            <a:pPr indent="0" marL="0">
              <a:lnSpc>
                <a:spcPts val="927"/>
              </a:lnSpc>
              <a:buNone/>
            </a:pPr>
            <a:r>
              <a:rPr lang="en-US" sz="71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else {</a:t>
            </a:r>
            <a:endParaRPr lang="en-US" sz="713" dirty="0"/>
          </a:p>
          <a:p>
            <a:pPr indent="0" marL="0">
              <a:lnSpc>
                <a:spcPts val="927"/>
              </a:lnSpc>
              <a:buNone/>
            </a:pPr>
            <a:r>
              <a:rPr lang="en-US" sz="71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nimError.textContent = "";</a:t>
            </a:r>
            <a:endParaRPr lang="en-US" sz="713" dirty="0"/>
          </a:p>
          <a:p>
            <a:pPr indent="0" marL="0">
              <a:lnSpc>
                <a:spcPts val="927"/>
              </a:lnSpc>
              <a:buNone/>
            </a:pPr>
            <a:r>
              <a:rPr lang="en-US" sz="71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nimInput.classList.remove("is-invalid");</a:t>
            </a:r>
            <a:endParaRPr lang="en-US" sz="713" dirty="0"/>
          </a:p>
          <a:p>
            <a:pPr indent="0" marL="0">
              <a:lnSpc>
                <a:spcPts val="927"/>
              </a:lnSpc>
              <a:buNone/>
            </a:pPr>
            <a:r>
              <a:rPr lang="en-US" sz="71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nimInput.classList.add("is-valid");</a:t>
            </a:r>
            <a:endParaRPr lang="en-US" sz="713" dirty="0"/>
          </a:p>
          <a:p>
            <a:pPr indent="0" marL="0">
              <a:lnSpc>
                <a:spcPts val="927"/>
              </a:lnSpc>
              <a:buNone/>
            </a:pPr>
            <a:r>
              <a:rPr lang="en-US" sz="71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713" dirty="0"/>
          </a:p>
          <a:p>
            <a:pPr indent="0" marL="0">
              <a:lnSpc>
                <a:spcPts val="927"/>
              </a:lnSpc>
              <a:buNone/>
            </a:pPr>
            <a:r>
              <a:rPr lang="en-US" sz="71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713" dirty="0"/>
          </a:p>
          <a:p>
            <a:pPr indent="0" marL="0">
              <a:lnSpc>
                <a:spcPts val="927"/>
              </a:lnSpc>
              <a:buNone/>
            </a:pPr>
            <a:r>
              <a:rPr lang="en-US" sz="71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713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Pencegahan Submit dan Pembuatan Baris Baru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DOM-APP.JS — HANDLER SUBMIT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426464"/>
            <a:ext cx="8138160" cy="3191256"/>
          </a:xfrm>
          <a:prstGeom prst="roundRect">
            <a:avLst>
              <a:gd name="adj" fmla="val 1719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499616"/>
            <a:ext cx="7918704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94"/>
              </a:lnSpc>
              <a:buNone/>
            </a:pPr>
            <a:r>
              <a:rPr lang="en-US" sz="61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studentForm.addEventListener("submit", (event) =&gt; {</a:t>
            </a:r>
            <a:endParaRPr lang="en-US" sz="611" dirty="0"/>
          </a:p>
          <a:p>
            <a:pPr indent="0" marL="0">
              <a:lnSpc>
                <a:spcPts val="794"/>
              </a:lnSpc>
              <a:buNone/>
            </a:pPr>
            <a:r>
              <a:rPr lang="en-US" sz="61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event.preventDefault();   // cegah reload halaman</a:t>
            </a:r>
            <a:endParaRPr lang="en-US" sz="611" dirty="0"/>
          </a:p>
          <a:p>
            <a:pPr indent="0" marL="0">
              <a:lnSpc>
                <a:spcPts val="794"/>
              </a:lnSpc>
              <a:buNone/>
            </a:pPr>
            <a:r>
              <a:rPr lang="en-US" sz="61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611" dirty="0"/>
          </a:p>
          <a:p>
            <a:pPr indent="0" marL="0">
              <a:lnSpc>
                <a:spcPts val="794"/>
              </a:lnSpc>
              <a:buNone/>
            </a:pPr>
            <a:r>
              <a:rPr lang="en-US" sz="61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nim  = nimInput.value.trim();</a:t>
            </a:r>
            <a:endParaRPr lang="en-US" sz="611" dirty="0"/>
          </a:p>
          <a:p>
            <a:pPr indent="0" marL="0">
              <a:lnSpc>
                <a:spcPts val="794"/>
              </a:lnSpc>
              <a:buNone/>
            </a:pPr>
            <a:r>
              <a:rPr lang="en-US" sz="61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name = nameInput.value.trim();</a:t>
            </a:r>
            <a:endParaRPr lang="en-US" sz="611" dirty="0"/>
          </a:p>
          <a:p>
            <a:pPr indent="0" marL="0">
              <a:lnSpc>
                <a:spcPts val="794"/>
              </a:lnSpc>
              <a:buNone/>
            </a:pPr>
            <a:r>
              <a:rPr lang="en-US" sz="61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isValid = true;</a:t>
            </a:r>
            <a:endParaRPr lang="en-US" sz="611" dirty="0"/>
          </a:p>
          <a:p>
            <a:pPr indent="0" marL="0">
              <a:lnSpc>
                <a:spcPts val="794"/>
              </a:lnSpc>
              <a:buNone/>
            </a:pPr>
            <a:r>
              <a:rPr lang="en-US" sz="61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611" dirty="0"/>
          </a:p>
          <a:p>
            <a:pPr indent="0" marL="0">
              <a:lnSpc>
                <a:spcPts val="794"/>
              </a:lnSpc>
              <a:buNone/>
            </a:pPr>
            <a:r>
              <a:rPr lang="en-US" sz="61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(!/^[0-9]{10}$/.test(nim)) {</a:t>
            </a:r>
            <a:endParaRPr lang="en-US" sz="611" dirty="0"/>
          </a:p>
          <a:p>
            <a:pPr indent="0" marL="0">
              <a:lnSpc>
                <a:spcPts val="794"/>
              </a:lnSpc>
              <a:buNone/>
            </a:pPr>
            <a:r>
              <a:rPr lang="en-US" sz="61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nimError.textContent = "Validasi Gagal: cek kembali NIM Anda.";</a:t>
            </a:r>
            <a:endParaRPr lang="en-US" sz="611" dirty="0"/>
          </a:p>
          <a:p>
            <a:pPr indent="0" marL="0">
              <a:lnSpc>
                <a:spcPts val="794"/>
              </a:lnSpc>
              <a:buNone/>
            </a:pPr>
            <a:r>
              <a:rPr lang="en-US" sz="61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isValid = false;</a:t>
            </a:r>
            <a:endParaRPr lang="en-US" sz="611" dirty="0"/>
          </a:p>
          <a:p>
            <a:pPr indent="0" marL="0">
              <a:lnSpc>
                <a:spcPts val="794"/>
              </a:lnSpc>
              <a:buNone/>
            </a:pPr>
            <a:r>
              <a:rPr lang="en-US" sz="61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611" dirty="0"/>
          </a:p>
          <a:p>
            <a:pPr indent="0" marL="0">
              <a:lnSpc>
                <a:spcPts val="794"/>
              </a:lnSpc>
              <a:buNone/>
            </a:pPr>
            <a:r>
              <a:rPr lang="en-US" sz="61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(name.length &lt; 3) {</a:t>
            </a:r>
            <a:endParaRPr lang="en-US" sz="611" dirty="0"/>
          </a:p>
          <a:p>
            <a:pPr indent="0" marL="0">
              <a:lnSpc>
                <a:spcPts val="794"/>
              </a:lnSpc>
              <a:buNone/>
            </a:pPr>
            <a:r>
              <a:rPr lang="en-US" sz="61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nameError.textContent = "Nama minimal 3 karakter.";</a:t>
            </a:r>
            <a:endParaRPr lang="en-US" sz="611" dirty="0"/>
          </a:p>
          <a:p>
            <a:pPr indent="0" marL="0">
              <a:lnSpc>
                <a:spcPts val="794"/>
              </a:lnSpc>
              <a:buNone/>
            </a:pPr>
            <a:r>
              <a:rPr lang="en-US" sz="61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isValid = false;</a:t>
            </a:r>
            <a:endParaRPr lang="en-US" sz="611" dirty="0"/>
          </a:p>
          <a:p>
            <a:pPr indent="0" marL="0">
              <a:lnSpc>
                <a:spcPts val="794"/>
              </a:lnSpc>
              <a:buNone/>
            </a:pPr>
            <a:r>
              <a:rPr lang="en-US" sz="61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611" dirty="0"/>
          </a:p>
          <a:p>
            <a:pPr indent="0" marL="0">
              <a:lnSpc>
                <a:spcPts val="794"/>
              </a:lnSpc>
              <a:buNone/>
            </a:pPr>
            <a:r>
              <a:rPr lang="en-US" sz="61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611" dirty="0"/>
          </a:p>
          <a:p>
            <a:pPr indent="0" marL="0">
              <a:lnSpc>
                <a:spcPts val="794"/>
              </a:lnSpc>
              <a:buNone/>
            </a:pPr>
            <a:r>
              <a:rPr lang="en-US" sz="61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(isValid) {</a:t>
            </a:r>
            <a:endParaRPr lang="en-US" sz="611" dirty="0"/>
          </a:p>
          <a:p>
            <a:pPr indent="0" marL="0">
              <a:lnSpc>
                <a:spcPts val="794"/>
              </a:lnSpc>
              <a:buNone/>
            </a:pPr>
            <a:r>
              <a:rPr lang="en-US" sz="61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tr    = document.createElement("tr");</a:t>
            </a:r>
            <a:endParaRPr lang="en-US" sz="611" dirty="0"/>
          </a:p>
          <a:p>
            <a:pPr indent="0" marL="0">
              <a:lnSpc>
                <a:spcPts val="794"/>
              </a:lnSpc>
              <a:buNone/>
            </a:pPr>
            <a:r>
              <a:rPr lang="en-US" sz="61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tdNim = document.createElement("td");</a:t>
            </a:r>
            <a:endParaRPr lang="en-US" sz="611" dirty="0"/>
          </a:p>
          <a:p>
            <a:pPr indent="0" marL="0">
              <a:lnSpc>
                <a:spcPts val="794"/>
              </a:lnSpc>
              <a:buNone/>
            </a:pPr>
            <a:r>
              <a:rPr lang="en-US" sz="61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tdNim.textContent = nim;   // aman dari XSS</a:t>
            </a:r>
            <a:endParaRPr lang="en-US" sz="611" dirty="0"/>
          </a:p>
          <a:p>
            <a:pPr indent="0" marL="0">
              <a:lnSpc>
                <a:spcPts val="794"/>
              </a:lnSpc>
              <a:buNone/>
            </a:pPr>
            <a:r>
              <a:rPr lang="en-US" sz="61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611" dirty="0"/>
          </a:p>
          <a:p>
            <a:pPr indent="0" marL="0">
              <a:lnSpc>
                <a:spcPts val="794"/>
              </a:lnSpc>
              <a:buNone/>
            </a:pPr>
            <a:r>
              <a:rPr lang="en-US" sz="61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deleteBtn = document.createElement("button");</a:t>
            </a:r>
            <a:endParaRPr lang="en-US" sz="611" dirty="0"/>
          </a:p>
          <a:p>
            <a:pPr indent="0" marL="0">
              <a:lnSpc>
                <a:spcPts val="794"/>
              </a:lnSpc>
              <a:buNone/>
            </a:pPr>
            <a:r>
              <a:rPr lang="en-US" sz="61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deleteBtn.className   = "btn btn-danger btn-sm delete-btn";</a:t>
            </a:r>
            <a:endParaRPr lang="en-US" sz="611" dirty="0"/>
          </a:p>
          <a:p>
            <a:pPr indent="0" marL="0">
              <a:lnSpc>
                <a:spcPts val="794"/>
              </a:lnSpc>
              <a:buNone/>
            </a:pPr>
            <a:r>
              <a:rPr lang="en-US" sz="61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deleteBtn.textContent = "Hapus";</a:t>
            </a:r>
            <a:endParaRPr lang="en-US" sz="611" dirty="0"/>
          </a:p>
          <a:p>
            <a:pPr indent="0" marL="0">
              <a:lnSpc>
                <a:spcPts val="794"/>
              </a:lnSpc>
              <a:buNone/>
            </a:pPr>
            <a:r>
              <a:rPr lang="en-US" sz="61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611" dirty="0"/>
          </a:p>
          <a:p>
            <a:pPr indent="0" marL="0">
              <a:lnSpc>
                <a:spcPts val="794"/>
              </a:lnSpc>
              <a:buNone/>
            </a:pPr>
            <a:r>
              <a:rPr lang="en-US" sz="61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tr.appendChild(tdNim);</a:t>
            </a:r>
            <a:endParaRPr lang="en-US" sz="611" dirty="0"/>
          </a:p>
          <a:p>
            <a:pPr indent="0" marL="0">
              <a:lnSpc>
                <a:spcPts val="794"/>
              </a:lnSpc>
              <a:buNone/>
            </a:pPr>
            <a:r>
              <a:rPr lang="en-US" sz="61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studentTableBody.appendChild(tr);</a:t>
            </a:r>
            <a:endParaRPr lang="en-US" sz="611" dirty="0"/>
          </a:p>
          <a:p>
            <a:pPr indent="0" marL="0">
              <a:lnSpc>
                <a:spcPts val="794"/>
              </a:lnSpc>
              <a:buNone/>
            </a:pPr>
            <a:r>
              <a:rPr lang="en-US" sz="61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studentForm.reset();</a:t>
            </a:r>
            <a:endParaRPr lang="en-US" sz="611" dirty="0"/>
          </a:p>
          <a:p>
            <a:pPr indent="0" marL="0">
              <a:lnSpc>
                <a:spcPts val="794"/>
              </a:lnSpc>
              <a:buNone/>
            </a:pPr>
            <a:r>
              <a:rPr lang="en-US" sz="61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611" dirty="0"/>
          </a:p>
          <a:p>
            <a:pPr indent="0" marL="0">
              <a:lnSpc>
                <a:spcPts val="794"/>
              </a:lnSpc>
              <a:buNone/>
            </a:pPr>
            <a:r>
              <a:rPr lang="en-US" sz="61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61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Menangani Tombol Dinamis lewat Delegation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4659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DOM-APP.JS — SATU LISTENER DI INDUK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426464"/>
            <a:ext cx="4465930" cy="3191256"/>
          </a:xfrm>
          <a:prstGeom prst="roundRect">
            <a:avLst>
              <a:gd name="adj" fmla="val 1719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499616"/>
            <a:ext cx="4246474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listener dipasang pada kontainer induk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studentTableBody.addEventListener("click", (event) =&gt; {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cek apakah elemen yang diklik adalah tombol hapus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(event.target.classList.contains("delete-btn")) {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ambil baris pembungkus tombol tersebut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rowToDelete = event.target.closest("tr");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(rowToDelete) {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rowToDelete.remove();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151730" y="1207008"/>
            <a:ext cx="3489350" cy="3410712"/>
          </a:xfrm>
          <a:prstGeom prst="roundRect">
            <a:avLst>
              <a:gd name="adj" fmla="val 160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98034" y="1307592"/>
            <a:ext cx="31967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harus begini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98034" y="1627632"/>
            <a:ext cx="319674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Tombol hapus dibuat secara dinamis setelah halaman dimuat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 tidak dapat dipasang padanya di awal skrip karena elemennya belum ada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 dipasang pada kontainer yang sudah ada di HTML sejak awal, lalu elemen asal klik dievaluasi melalui properti target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PEMBAHASAN KODE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Penjelasan Alur dan Logika</a:t>
            </a:r>
            <a:endParaRPr lang="en-US" sz="2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07008"/>
          <a:ext cx="81381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394960"/>
              </a:tblGrid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Baris kode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Peran dalam program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addEventListener("DOMContentLoaded")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Memastikan kode baru dieksekusi setelah pohon dokumen awal selesai dibangun, mencegah pemilih elemen bernilai kosong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event.preventDefault()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Menghentikan tindakan bawaan peramban pada submit formulir, sehingga halaman tidak dimuat ulang dan logika lokal dapat memproses data lebih dahulu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document.createElement("tr")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Membuat objek simpul baru yang berada di memori sebagai objek lepas, sebelum secara eksplisit dimasukkan ke pohon dokumen aktif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Listener pada kontainer induk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Penerapan event delegation, satu listener menangani seluruh tombol yang dibuat dinamis melalui evaluasi properti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Evaluasi dan Tugas Mandiri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konseptual tingkat analisis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praktik pemecahan masalah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PERTANYAAN KONSEPTUAL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Tingkat Tinggi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602992" cy="2097024"/>
          </a:xfrm>
          <a:prstGeom prst="roundRect">
            <a:avLst>
              <a:gd name="adj" fmla="val 2616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Perambatan Kejadian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310384" cy="156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tombol berada di dalam sebuah div, keduanya dipasangi listener klik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Tuliskan urutan pemanggilan bila keduanya didaftarkan secara bawaan, lalu bila elemen induk didaftarkan dengan parameter ketiga bernilai benar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70504" y="1207008"/>
            <a:ext cx="2602992" cy="2097024"/>
          </a:xfrm>
          <a:prstGeom prst="roundRect">
            <a:avLst>
              <a:gd name="adj" fmla="val 2616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6808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innerHTML dan textContent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16808" y="1627632"/>
            <a:ext cx="2310384" cy="156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celah keamanan yang dapat dieksploitasi bila innerHTML dipakai menampilkan komentar pengguna lain di forum publik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Tuliskan contoh muatan serangan yang mungkin dipakai untuk mencuri kuki sesi pengguna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8088" y="1207008"/>
            <a:ext cx="2602992" cy="2097024"/>
          </a:xfrm>
          <a:prstGeom prst="roundRect">
            <a:avLst>
              <a:gd name="adj" fmla="val 2616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4392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Kinerja Seleksi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84392" y="1627632"/>
            <a:ext cx="2310384" cy="156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seleksi melalui getElementById umumnya lebih efisien dibanding pemilih CSS kompleks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mekanisme internal peramban dalam memetakan indeks atribut id di dalam memori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TUGAS PRAKTIK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Pengelola Daftar Tugas Kuliah Dinamis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163824" cy="3410712"/>
          </a:xfrm>
          <a:prstGeom prst="roundRect">
            <a:avLst>
              <a:gd name="adj" fmla="val 1734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tugas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87121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modul aplikasi pengelola daftar tugas kuliah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dapat memasukkan judul tugas, memilih tingkat prioritas, menandai tugas selesai, serta menghapusnya dari daftar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wajib efisien dalam penggunaan memori dan mematuhi standar aksesibilitas dasar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49624" y="120700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Spesifikasi persyaratan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49624" y="1499616"/>
            <a:ext cx="4791456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09-tugas-dom.html beserta berkas skrip pendamping 09-tugas-dom.js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Sediakan input teks untuk judul tugas dan pilihan tingkat prioritas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tugas ditambahkan, buat elemen daftar baru berisi judul, lencana prioritas berwarna sesuai tingkatannya, serta tombol tandai selesai dan tombol hapus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Pasang hanya satu event listener pada elemen pembungkus daftar untuk menangani kedua tombol di seluruh item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tandai selesai harus mencoret judul tugas melalui manipulasi kelas CSS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Terapkan validasi judul minimal lima karakter dan cegah pengiriman formulir bawaan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1323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 MODUL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98755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Rangkuman Modul 9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Tree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9224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Peramban mengubah dokumen HTML menjadi pohon objek yang dapat diakses dan diubah secara real-time oleh JavaScript.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74036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20340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Seleksi Elemen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20340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HTMLCollection bersifat hidup mengikuti perubahan dokumen, sedangkan NodeList hasil querySelectorAll bersifat statis.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45152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Manipulasi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91456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textContent aman untuk teks biasa, sementara innerHTML memparsing markup dan membuka celah serangan lintas situs.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16268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62572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62572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Perambatan melewati fase capturing, target, dan bubbling; delegation memanfaatkan bubbling untuk menghemat memori.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7673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berikutnya: Pemrograman Browser Lanjut, Penanganan Loop, dan Kontrol Transisi CSS.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Pemrograman Website — Modul 9</dc:title>
  <dc:subject>PptxGenJS Presentation</dc:subject>
  <dc:creator>Departemen Teknik Informatika, Universitas Hasanuddin</dc:creator>
  <cp:lastModifiedBy>Departemen Teknik Informatika, Universitas Hasanuddin</cp:lastModifiedBy>
  <cp:revision>1</cp:revision>
  <dcterms:created xsi:type="dcterms:W3CDTF">2026-08-18T10:36:19Z</dcterms:created>
  <dcterms:modified xsi:type="dcterms:W3CDTF">2026-08-18T10:36:19Z</dcterms:modified>
</cp:coreProperties>
</file>